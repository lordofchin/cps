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33"/>
  </p:notesMasterIdLst>
  <p:sldIdLst>
    <p:sldId id="256" r:id="rId2"/>
    <p:sldId id="257" r:id="rId3"/>
    <p:sldId id="258" r:id="rId4"/>
    <p:sldId id="267" r:id="rId5"/>
    <p:sldId id="269" r:id="rId6"/>
    <p:sldId id="272" r:id="rId7"/>
    <p:sldId id="266" r:id="rId8"/>
    <p:sldId id="268" r:id="rId9"/>
    <p:sldId id="260" r:id="rId10"/>
    <p:sldId id="271" r:id="rId11"/>
    <p:sldId id="261" r:id="rId12"/>
    <p:sldId id="262" r:id="rId13"/>
    <p:sldId id="263" r:id="rId14"/>
    <p:sldId id="264" r:id="rId15"/>
    <p:sldId id="273" r:id="rId16"/>
    <p:sldId id="265" r:id="rId17"/>
    <p:sldId id="274" r:id="rId18"/>
    <p:sldId id="276" r:id="rId19"/>
    <p:sldId id="277" r:id="rId20"/>
    <p:sldId id="259" r:id="rId21"/>
    <p:sldId id="278" r:id="rId22"/>
    <p:sldId id="279" r:id="rId23"/>
    <p:sldId id="280" r:id="rId24"/>
    <p:sldId id="281" r:id="rId25"/>
    <p:sldId id="282" r:id="rId26"/>
    <p:sldId id="283" r:id="rId27"/>
    <p:sldId id="403" r:id="rId28"/>
    <p:sldId id="405" r:id="rId29"/>
    <p:sldId id="417" r:id="rId30"/>
    <p:sldId id="418" r:id="rId31"/>
    <p:sldId id="40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FFCC99"/>
    <a:srgbClr val="66FFFF"/>
    <a:srgbClr val="000000"/>
    <a:srgbClr val="625191"/>
    <a:srgbClr val="8686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0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BBEAD4-C0FB-4893-9C9A-DD9C98A2CD76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464CC-17BE-4025-B9CC-1B9A0C7ED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07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1A321-E210-4B7C-B483-3DC1998C4CC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07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1A321-E210-4B7C-B483-3DC1998C4CC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719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Do it on the board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1A321-E210-4B7C-B483-3DC1998C4CC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66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1A321-E210-4B7C-B483-3DC1998C4CC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9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1A321-E210-4B7C-B483-3DC1998C4CC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0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1/20/2023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1/20/2023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1/20/2023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1/20/2023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1/20/2023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1/20/2023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4A2EE-356D-4410-849E-7C4D67AA6A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2</a:t>
            </a:r>
          </a:p>
        </p:txBody>
      </p:sp>
    </p:spTree>
    <p:extLst>
      <p:ext uri="{BB962C8B-B14F-4D97-AF65-F5344CB8AC3E}">
        <p14:creationId xmlns:p14="http://schemas.microsoft.com/office/powerpoint/2010/main" val="3560670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7419D-FB4C-4A96-A62C-66364A96F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749" y="92237"/>
            <a:ext cx="7729728" cy="1188720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3916A-6C2C-4003-B2BC-F6C28EFA1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5842" y="1522308"/>
            <a:ext cx="4271771" cy="3101982"/>
          </a:xfrm>
        </p:spPr>
        <p:txBody>
          <a:bodyPr>
            <a:normAutofit/>
          </a:bodyPr>
          <a:lstStyle/>
          <a:p>
            <a:r>
              <a:rPr lang="en-US" dirty="0"/>
              <a:t>Stored-program concept: The idea that instructions and data of many types can be stored in memory as numbers, leading to the stored-program computer. </a:t>
            </a:r>
          </a:p>
          <a:p>
            <a:r>
              <a:rPr lang="en-US" dirty="0"/>
              <a:t>Instruction set: The vocabulary of commands understood by a given architecture. 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7CCC1-4483-4C52-B7D1-F1CA9F646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77589" y="1606198"/>
            <a:ext cx="4270247" cy="2026235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Instruction Set Architecture (ISA)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It’s an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interface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 between software and hardware.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It’s a mechanism by which the software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tells the hardware what should be done.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719F00-E0FA-406F-9DBD-C73BE8EA1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121" y="3850547"/>
            <a:ext cx="6197060" cy="251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90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F028-71A1-4B0E-985E-3790F8D70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589" y="126261"/>
            <a:ext cx="9119168" cy="728903"/>
          </a:xfrm>
        </p:spPr>
        <p:txBody>
          <a:bodyPr>
            <a:normAutofit fontScale="90000"/>
          </a:bodyPr>
          <a:lstStyle/>
          <a:p>
            <a:r>
              <a:rPr lang="en-US" dirty="0"/>
              <a:t>Operations of the computer hardware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33F2EA-EC66-4C73-AC1C-35AF88CCE4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93622" y="1732327"/>
            <a:ext cx="4415406" cy="175432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MIPS assembly language notation,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instructs a computer to add the two values of the two registers b and c and to put their sum in register a.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04A5A-9512-4FA2-BC9C-D600B40E0C5C}"/>
              </a:ext>
            </a:extLst>
          </p:cNvPr>
          <p:cNvSpPr txBox="1"/>
          <p:nvPr/>
        </p:nvSpPr>
        <p:spPr>
          <a:xfrm>
            <a:off x="1026253" y="6268250"/>
            <a:ext cx="9706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Refer participation activities 2.2.5 in </a:t>
            </a:r>
            <a:r>
              <a:rPr lang="en-US" dirty="0" err="1">
                <a:highlight>
                  <a:srgbClr val="FFFF00"/>
                </a:highlight>
              </a:rPr>
              <a:t>zybooks</a:t>
            </a:r>
            <a:r>
              <a:rPr lang="en-US" dirty="0">
                <a:highlight>
                  <a:srgbClr val="FFFF00"/>
                </a:highlight>
              </a:rPr>
              <a:t> for more MIPS programming examples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4F4714EC-789D-413C-9DF9-81F2C13572D8}"/>
              </a:ext>
            </a:extLst>
          </p:cNvPr>
          <p:cNvSpPr/>
          <p:nvPr/>
        </p:nvSpPr>
        <p:spPr>
          <a:xfrm>
            <a:off x="7675926" y="2194413"/>
            <a:ext cx="2390863" cy="282188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a, b, c</a:t>
            </a:r>
          </a:p>
          <a:p>
            <a:pPr algn="ctr"/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6323272-EB55-4CEA-8BA9-7327F26BA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231" y="1738175"/>
            <a:ext cx="4415406" cy="1754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C language statement,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instructs a computer to add the two variables b and c and to put their sum in a.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207C2E-96B4-4E60-80FF-F3BB00474E4F}"/>
              </a:ext>
            </a:extLst>
          </p:cNvPr>
          <p:cNvSpPr txBox="1"/>
          <p:nvPr/>
        </p:nvSpPr>
        <p:spPr>
          <a:xfrm>
            <a:off x="5879285" y="34289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226F74-40E1-404D-A255-C67014067474}"/>
              </a:ext>
            </a:extLst>
          </p:cNvPr>
          <p:cNvSpPr txBox="1"/>
          <p:nvPr/>
        </p:nvSpPr>
        <p:spPr>
          <a:xfrm>
            <a:off x="1586232" y="2211602"/>
            <a:ext cx="1273030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a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= b + c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1988301B-8CAB-49CB-999A-55EAA4A3E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223" y="4118328"/>
            <a:ext cx="4415406" cy="1754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C language statement,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instructs a computer to subtract the value of e variable from variable a and assign the result to variable d.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CE731D-6CD5-4577-8BF8-572623BD1DE5}"/>
              </a:ext>
            </a:extLst>
          </p:cNvPr>
          <p:cNvSpPr txBox="1"/>
          <p:nvPr/>
        </p:nvSpPr>
        <p:spPr>
          <a:xfrm>
            <a:off x="1396082" y="4626159"/>
            <a:ext cx="1273030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d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= </a:t>
            </a:r>
            <a:r>
              <a:rPr lang="en-US" altLang="en-US" dirty="0">
                <a:latin typeface="Arial" panose="020B0604020202020204" pitchFamily="34" charset="0"/>
              </a:rPr>
              <a:t>a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-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e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B548DDC5-B76E-4A44-B9A0-89FC21B36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3622" y="4118328"/>
            <a:ext cx="4415406" cy="175432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 MIPS assembly language notation,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instructs a computer to subtract the content of register e from register a and to put the result in register d. </a:t>
            </a: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0CBC9074-42C9-4FD3-BDE1-186B82794261}"/>
              </a:ext>
            </a:extLst>
          </p:cNvPr>
          <p:cNvSpPr/>
          <p:nvPr/>
        </p:nvSpPr>
        <p:spPr>
          <a:xfrm>
            <a:off x="7675926" y="4580414"/>
            <a:ext cx="2390863" cy="282188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 d,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67FAEDA-7F5D-46BE-9A0C-0F2336C71D35}"/>
              </a:ext>
            </a:extLst>
          </p:cNvPr>
          <p:cNvCxnSpPr/>
          <p:nvPr/>
        </p:nvCxnSpPr>
        <p:spPr>
          <a:xfrm>
            <a:off x="515231" y="3879068"/>
            <a:ext cx="110867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304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B15534-6F8E-4156-9C81-DDC99F29A8FF}"/>
              </a:ext>
            </a:extLst>
          </p:cNvPr>
          <p:cNvSpPr txBox="1"/>
          <p:nvPr/>
        </p:nvSpPr>
        <p:spPr>
          <a:xfrm>
            <a:off x="1388079" y="368411"/>
            <a:ext cx="8811571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Question:  To place the sum of four variables namely </a:t>
            </a:r>
            <a:r>
              <a:rPr lang="en-US" dirty="0" err="1"/>
              <a:t>b,c,d,e</a:t>
            </a:r>
            <a:r>
              <a:rPr lang="en-US" dirty="0"/>
              <a:t> in variable a, how could the sequence of instructions be written in MIPS assembly language? </a:t>
            </a:r>
          </a:p>
          <a:p>
            <a:r>
              <a:rPr lang="en-US" dirty="0"/>
              <a:t>Hint : Every instruction can have 2 operands and one destination to store the result.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B4A7D6-2E56-4546-95B4-106C27E238B2}"/>
              </a:ext>
            </a:extLst>
          </p:cNvPr>
          <p:cNvSpPr txBox="1"/>
          <p:nvPr/>
        </p:nvSpPr>
        <p:spPr>
          <a:xfrm>
            <a:off x="5243120" y="1870009"/>
            <a:ext cx="5687736" cy="175432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Answer in MIPs assembly language :</a:t>
            </a:r>
          </a:p>
          <a:p>
            <a:endParaRPr lang="en-US" dirty="0"/>
          </a:p>
          <a:p>
            <a:r>
              <a:rPr lang="en-US" dirty="0"/>
              <a:t>add a, b, c      # Sum of b and c is placed in a</a:t>
            </a:r>
          </a:p>
          <a:p>
            <a:r>
              <a:rPr lang="en-US" dirty="0"/>
              <a:t>add a, a, d      # Sum of b, c and d is placed in a</a:t>
            </a:r>
          </a:p>
          <a:p>
            <a:r>
              <a:rPr lang="en-US" dirty="0"/>
              <a:t>add a, a, e      # Sum of b, c, d and e is now in a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9A3606-2A14-4FD7-A0AE-5281000827C9}"/>
              </a:ext>
            </a:extLst>
          </p:cNvPr>
          <p:cNvSpPr txBox="1"/>
          <p:nvPr/>
        </p:nvSpPr>
        <p:spPr>
          <a:xfrm>
            <a:off x="285227" y="2206305"/>
            <a:ext cx="3783434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answer for the above question could be written in C language as,</a:t>
            </a:r>
          </a:p>
          <a:p>
            <a:r>
              <a:rPr lang="en-US" dirty="0"/>
              <a:t> a= b + c + d + e</a:t>
            </a:r>
          </a:p>
        </p:txBody>
      </p:sp>
    </p:spTree>
    <p:extLst>
      <p:ext uri="{BB962C8B-B14F-4D97-AF65-F5344CB8AC3E}">
        <p14:creationId xmlns:p14="http://schemas.microsoft.com/office/powerpoint/2010/main" val="7381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3A03E-1258-4917-B4BF-46500BB51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85" y="162259"/>
            <a:ext cx="9298391" cy="724149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Translating a C statement into MiPS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583FB-0266-4234-AEF7-E9337E31B85B}"/>
              </a:ext>
            </a:extLst>
          </p:cNvPr>
          <p:cNvSpPr txBox="1"/>
          <p:nvPr/>
        </p:nvSpPr>
        <p:spPr>
          <a:xfrm>
            <a:off x="606105" y="1332190"/>
            <a:ext cx="9922078" cy="6155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MinionPro-Regular"/>
              </a:rPr>
              <a:t>A C language statement contains the five variables </a:t>
            </a:r>
            <a:r>
              <a:rPr lang="en-US" sz="1800" b="0" i="0" u="none" strike="noStrike" baseline="0" dirty="0">
                <a:latin typeface="LetterGothicStd"/>
              </a:rPr>
              <a:t>f</a:t>
            </a:r>
            <a:r>
              <a:rPr lang="en-US" sz="1800" b="0" i="0" u="none" strike="noStrike" baseline="0" dirty="0">
                <a:latin typeface="MinionPro-Regular"/>
              </a:rPr>
              <a:t>, </a:t>
            </a:r>
            <a:r>
              <a:rPr lang="en-US" sz="1800" b="0" i="0" u="none" strike="noStrike" baseline="0" dirty="0">
                <a:latin typeface="LetterGothicStd"/>
              </a:rPr>
              <a:t>g</a:t>
            </a:r>
            <a:r>
              <a:rPr lang="en-US" sz="1800" b="0" i="0" u="none" strike="noStrike" baseline="0" dirty="0">
                <a:latin typeface="MinionPro-Regular"/>
              </a:rPr>
              <a:t>, </a:t>
            </a:r>
            <a:r>
              <a:rPr lang="en-US" sz="1800" b="0" i="0" u="none" strike="noStrike" baseline="0" dirty="0">
                <a:latin typeface="LetterGothicStd"/>
              </a:rPr>
              <a:t>h</a:t>
            </a:r>
            <a:r>
              <a:rPr lang="en-US" sz="1800" b="0" i="0" u="none" strike="noStrike" baseline="0" dirty="0">
                <a:latin typeface="MinionPro-Regular"/>
              </a:rPr>
              <a:t>, </a:t>
            </a:r>
            <a:r>
              <a:rPr lang="en-US" sz="1800" b="0" i="0" u="none" strike="noStrike" baseline="0" dirty="0" err="1">
                <a:latin typeface="LetterGothicStd"/>
              </a:rPr>
              <a:t>i</a:t>
            </a:r>
            <a:r>
              <a:rPr lang="en-US" sz="1800" b="0" i="0" u="none" strike="noStrike" baseline="0" dirty="0">
                <a:latin typeface="MinionPro-Regular"/>
              </a:rPr>
              <a:t>, and </a:t>
            </a:r>
            <a:r>
              <a:rPr lang="en-US" sz="1800" b="0" i="0" u="none" strike="noStrike" baseline="0" dirty="0">
                <a:latin typeface="LetterGothicStd"/>
              </a:rPr>
              <a:t>j</a:t>
            </a:r>
            <a:r>
              <a:rPr lang="en-US" sz="1800" b="0" i="0" u="none" strike="noStrike" baseline="0" dirty="0">
                <a:latin typeface="MinionPro-Regular"/>
              </a:rPr>
              <a:t>:</a:t>
            </a:r>
          </a:p>
          <a:p>
            <a:pPr algn="l"/>
            <a:r>
              <a:rPr lang="pt-BR" sz="1600" b="0" i="0" u="none" strike="noStrike" baseline="0" dirty="0">
                <a:latin typeface="LetterGothicStd"/>
              </a:rPr>
              <a:t>f = (g + h) – (i + j);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5BE74B-505C-4A75-879A-8CFE6B9FDEA2}"/>
              </a:ext>
            </a:extLst>
          </p:cNvPr>
          <p:cNvSpPr txBox="1"/>
          <p:nvPr/>
        </p:nvSpPr>
        <p:spPr>
          <a:xfrm>
            <a:off x="629173" y="2575420"/>
            <a:ext cx="11199304" cy="9233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Translate the above C statement to MIPS and write down the translated MIPS instructions.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 : Use two temporary variables called t0 and 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/>
              <a:t> to hold the partial results of the 2 additions in the above statement.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D6CD96-1090-45BF-95FC-CE1A5360E2A1}"/>
              </a:ext>
            </a:extLst>
          </p:cNvPr>
          <p:cNvSpPr txBox="1"/>
          <p:nvPr/>
        </p:nvSpPr>
        <p:spPr>
          <a:xfrm>
            <a:off x="898613" y="5156478"/>
            <a:ext cx="9706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Refer participation activities 2.2.6 in </a:t>
            </a:r>
            <a:r>
              <a:rPr lang="en-US" dirty="0" err="1">
                <a:highlight>
                  <a:srgbClr val="FFFF00"/>
                </a:highlight>
              </a:rPr>
              <a:t>zybooks</a:t>
            </a:r>
            <a:r>
              <a:rPr lang="en-US" dirty="0">
                <a:highlight>
                  <a:srgbClr val="FFFF00"/>
                </a:highlight>
              </a:rPr>
              <a:t> for this MIPS programming example</a:t>
            </a:r>
          </a:p>
        </p:txBody>
      </p:sp>
    </p:spTree>
    <p:extLst>
      <p:ext uri="{BB962C8B-B14F-4D97-AF65-F5344CB8AC3E}">
        <p14:creationId xmlns:p14="http://schemas.microsoft.com/office/powerpoint/2010/main" val="1467486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B6CF2-2681-4315-BFF7-4ACF4D8E1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0"/>
            <a:ext cx="7729728" cy="1188720"/>
          </a:xfrm>
        </p:spPr>
        <p:txBody>
          <a:bodyPr/>
          <a:lstStyle/>
          <a:p>
            <a:r>
              <a:rPr lang="en-US" dirty="0"/>
              <a:t>Registers used in MIPS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D80BE0-E184-4684-8A38-37D904837F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0352" y="1731471"/>
            <a:ext cx="9751813" cy="4593915"/>
          </a:xfrm>
        </p:spPr>
      </p:pic>
    </p:spTree>
    <p:extLst>
      <p:ext uri="{BB962C8B-B14F-4D97-AF65-F5344CB8AC3E}">
        <p14:creationId xmlns:p14="http://schemas.microsoft.com/office/powerpoint/2010/main" val="90737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F18D-206C-4877-B4A7-A45259CAE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780" y="14683"/>
            <a:ext cx="10273004" cy="688218"/>
          </a:xfrm>
        </p:spPr>
        <p:txBody>
          <a:bodyPr>
            <a:normAutofit fontScale="90000"/>
          </a:bodyPr>
          <a:lstStyle/>
          <a:p>
            <a:r>
              <a:rPr lang="en-US" dirty="0"/>
              <a:t>MIPs assembly language instructions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648402-5914-4897-8725-42B917FC9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762" y="905069"/>
            <a:ext cx="11262049" cy="100968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2F6C16-2428-4501-8E60-1B2D8C53C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40" y="2116918"/>
            <a:ext cx="11246471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22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7600B-A757-4A68-9FCC-0947CF46A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62638"/>
            <a:ext cx="10823510" cy="522514"/>
          </a:xfrm>
        </p:spPr>
        <p:txBody>
          <a:bodyPr>
            <a:normAutofit fontScale="90000"/>
          </a:bodyPr>
          <a:lstStyle/>
          <a:p>
            <a:r>
              <a:rPr lang="en-US" dirty="0"/>
              <a:t>MIPs assembly language instructions </a:t>
            </a:r>
            <a:r>
              <a:rPr lang="en-US" dirty="0" err="1"/>
              <a:t>contd</a:t>
            </a:r>
            <a:r>
              <a:rPr lang="en-US" dirty="0"/>
              <a:t>…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019260-EE03-4CE2-96ED-602F8349D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152" y="1156867"/>
            <a:ext cx="11103428" cy="132513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158162-964C-4F0B-9E35-26E11FD69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51" y="808371"/>
            <a:ext cx="11103428" cy="323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58302B-F5C9-4AC7-8C97-60DF6ECFB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51" y="2671267"/>
            <a:ext cx="11103428" cy="29150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25C4F7-89E4-4109-A6F7-07C25D091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150" y="5875122"/>
            <a:ext cx="11103427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22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4AAD2-8B5D-4EA2-AF3F-40D7B1651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83" y="621001"/>
            <a:ext cx="7729728" cy="2807999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77500" lnSpcReduction="20000"/>
          </a:bodyPr>
          <a:lstStyle/>
          <a:p>
            <a:r>
              <a:rPr lang="en-US" dirty="0">
                <a:effectLst/>
              </a:rPr>
              <a:t>Data transfer instruction: A command that moves data between memory and registers.</a:t>
            </a:r>
          </a:p>
          <a:p>
            <a:r>
              <a:rPr lang="en-US" dirty="0">
                <a:effectLst/>
              </a:rPr>
              <a:t>Address : A value used to delineate the location of a specific data element within a memory array.</a:t>
            </a:r>
          </a:p>
          <a:p>
            <a:r>
              <a:rPr lang="en-US" dirty="0"/>
              <a:t>The size of a register in the MIPS architecture is 32 bits;</a:t>
            </a:r>
          </a:p>
          <a:p>
            <a:r>
              <a:rPr lang="en-US" dirty="0"/>
              <a:t>Word:  The natural unit of access in a computer, usually a group of 32 bits; corresponds to the size of a register in the MIPS architecture.</a:t>
            </a:r>
          </a:p>
          <a:p>
            <a:r>
              <a:rPr lang="en-US" dirty="0"/>
              <a:t>The reason for the limit of 32 registers is to reduce the execution time.</a:t>
            </a:r>
          </a:p>
          <a:p>
            <a:r>
              <a:rPr lang="en-US" dirty="0"/>
              <a:t>To access a word in memory, the instruction must supply the memory address. </a:t>
            </a:r>
          </a:p>
          <a:p>
            <a:r>
              <a:rPr lang="en-US" dirty="0"/>
              <a:t>Load : The data transfer instruction that copies data from memory to a register</a:t>
            </a:r>
          </a:p>
          <a:p>
            <a:r>
              <a:rPr lang="en-US" dirty="0"/>
              <a:t>Store : The data transfer instruction that copies from register to memory location</a:t>
            </a:r>
          </a:p>
          <a:p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7A98D8-CD98-477A-A4A1-25926F6149ED}"/>
              </a:ext>
            </a:extLst>
          </p:cNvPr>
          <p:cNvSpPr txBox="1"/>
          <p:nvPr/>
        </p:nvSpPr>
        <p:spPr>
          <a:xfrm>
            <a:off x="394283" y="19200"/>
            <a:ext cx="309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Memory operands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8E53D2-8EA2-4305-95AC-097AAFD6050A}"/>
              </a:ext>
            </a:extLst>
          </p:cNvPr>
          <p:cNvSpPr txBox="1"/>
          <p:nvPr/>
        </p:nvSpPr>
        <p:spPr>
          <a:xfrm>
            <a:off x="1300294" y="3775046"/>
            <a:ext cx="8825218" cy="369332"/>
          </a:xfrm>
          <a:prstGeom prst="rect">
            <a:avLst/>
          </a:prstGeom>
          <a:solidFill>
            <a:srgbClr val="66FFFF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Refer participation activity 2.3.5 and 2.3.9 for instructions with memory operands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E962E-E8C4-47B8-8551-988D49025E6D}"/>
              </a:ext>
            </a:extLst>
          </p:cNvPr>
          <p:cNvSpPr txBox="1"/>
          <p:nvPr/>
        </p:nvSpPr>
        <p:spPr>
          <a:xfrm>
            <a:off x="2306972" y="4639112"/>
            <a:ext cx="6811861" cy="923330"/>
          </a:xfrm>
          <a:prstGeom prst="rect">
            <a:avLst/>
          </a:prstGeom>
          <a:solidFill>
            <a:srgbClr val="FFCC9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Translating MIPS assembly language into machine language: </a:t>
            </a:r>
          </a:p>
          <a:p>
            <a:r>
              <a:rPr lang="en-US" dirty="0"/>
              <a:t>A[300] = h + A[300];</a:t>
            </a:r>
          </a:p>
          <a:p>
            <a:r>
              <a:rPr lang="en-US" dirty="0"/>
              <a:t>                                                   Please write down the answer</a:t>
            </a:r>
          </a:p>
        </p:txBody>
      </p:sp>
    </p:spTree>
    <p:extLst>
      <p:ext uri="{BB962C8B-B14F-4D97-AF65-F5344CB8AC3E}">
        <p14:creationId xmlns:p14="http://schemas.microsoft.com/office/powerpoint/2010/main" val="1031434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C7EE0E-A828-4C4C-815B-C60648B74124}"/>
              </a:ext>
            </a:extLst>
          </p:cNvPr>
          <p:cNvSpPr txBox="1"/>
          <p:nvPr/>
        </p:nvSpPr>
        <p:spPr>
          <a:xfrm>
            <a:off x="570452" y="516598"/>
            <a:ext cx="2734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Immediate operands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08076C-9E7C-4D6F-9924-42E1CBFB2EF7}"/>
              </a:ext>
            </a:extLst>
          </p:cNvPr>
          <p:cNvSpPr txBox="1"/>
          <p:nvPr/>
        </p:nvSpPr>
        <p:spPr>
          <a:xfrm>
            <a:off x="463620" y="1030397"/>
            <a:ext cx="87476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A program may use a constant in an operation. For example, incrementing an index to point to the next element of an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Opcode / operation code : The field that denotes the operation and format of an instruction.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MIPS instruction example with an immediate operand: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9E4F080-FCFF-40D8-8F7E-A8E34426C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97" y="3594109"/>
            <a:ext cx="4521667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$s3, $s3, 4                              # $s3 = $s3 + 4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D918BFD9-FE47-4127-93FE-5F91FE34728C}"/>
              </a:ext>
            </a:extLst>
          </p:cNvPr>
          <p:cNvSpPr/>
          <p:nvPr/>
        </p:nvSpPr>
        <p:spPr>
          <a:xfrm>
            <a:off x="1291648" y="2566181"/>
            <a:ext cx="4027230" cy="559095"/>
          </a:xfrm>
          <a:prstGeom prst="wedgeRoundRectCallout">
            <a:avLst>
              <a:gd name="adj1" fmla="val -12664"/>
              <a:gd name="adj2" fmla="val 138292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addi</a:t>
            </a:r>
            <a:r>
              <a:rPr lang="en-US" dirty="0">
                <a:solidFill>
                  <a:schemeClr val="tx1"/>
                </a:solidFill>
              </a:rPr>
              <a:t> opcode refers to “add immediate” 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E8DB1A81-6980-43FB-924D-AC8DEA6953DC}"/>
              </a:ext>
            </a:extLst>
          </p:cNvPr>
          <p:cNvSpPr/>
          <p:nvPr/>
        </p:nvSpPr>
        <p:spPr>
          <a:xfrm>
            <a:off x="6602478" y="2338375"/>
            <a:ext cx="3436789" cy="780796"/>
          </a:xfrm>
          <a:prstGeom prst="wedgeRoundRectCallout">
            <a:avLst>
              <a:gd name="adj1" fmla="val -146049"/>
              <a:gd name="adj2" fmla="val 10910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This MIPS instruction adds 4 to the contents of register s3 and the result is stored in register s3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F61B78F-30A4-48ED-898D-5BDF6898E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4106" y="5558531"/>
            <a:ext cx="4521667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latin typeface="Arial Unicode MS"/>
              </a:rPr>
              <a:t>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 $</a:t>
            </a:r>
            <a:r>
              <a:rPr lang="en-US" altLang="en-US" sz="1000" dirty="0">
                <a:latin typeface="Arial Unicode MS"/>
              </a:rPr>
              <a:t>t5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,4                              # $</a:t>
            </a:r>
            <a:r>
              <a:rPr lang="en-US" altLang="en-US" sz="1000" dirty="0">
                <a:latin typeface="Arial Unicode MS"/>
              </a:rPr>
              <a:t>t5 =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4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2ED08DC1-252A-453C-A7FF-A8E3875EB7FA}"/>
              </a:ext>
            </a:extLst>
          </p:cNvPr>
          <p:cNvSpPr/>
          <p:nvPr/>
        </p:nvSpPr>
        <p:spPr>
          <a:xfrm>
            <a:off x="1083321" y="4488659"/>
            <a:ext cx="4027230" cy="559095"/>
          </a:xfrm>
          <a:prstGeom prst="wedgeRoundRectCallout">
            <a:avLst>
              <a:gd name="adj1" fmla="val -12664"/>
              <a:gd name="adj2" fmla="val 138292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 opcode refers to “load immediate” 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2EFB2639-40C0-40B8-80E0-D6B708718AF7}"/>
              </a:ext>
            </a:extLst>
          </p:cNvPr>
          <p:cNvSpPr/>
          <p:nvPr/>
        </p:nvSpPr>
        <p:spPr>
          <a:xfrm>
            <a:off x="6176038" y="4309032"/>
            <a:ext cx="3436789" cy="780796"/>
          </a:xfrm>
          <a:prstGeom prst="wedgeRoundRectCallout">
            <a:avLst>
              <a:gd name="adj1" fmla="val -146049"/>
              <a:gd name="adj2" fmla="val 10910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This MIPS instruction assigns 4 to the register t5.</a:t>
            </a:r>
          </a:p>
        </p:txBody>
      </p:sp>
    </p:spTree>
    <p:extLst>
      <p:ext uri="{BB962C8B-B14F-4D97-AF65-F5344CB8AC3E}">
        <p14:creationId xmlns:p14="http://schemas.microsoft.com/office/powerpoint/2010/main" val="4078948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64E9C0-EEDB-473C-9121-8B0EE9CBDFBB}"/>
              </a:ext>
            </a:extLst>
          </p:cNvPr>
          <p:cNvSpPr/>
          <p:nvPr/>
        </p:nvSpPr>
        <p:spPr>
          <a:xfrm>
            <a:off x="244638" y="471167"/>
            <a:ext cx="1157111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Word: The natural unit of access in a computer, usually a group of 32 bits; corresponds to the size of a register in the MIPS architecture.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Binary digit: Also called a bit. One of the two numbers in base 2 (0 or 1) that are the components of information.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Least Significant Bit (LSB) :  The rightmost bit in a MIPS word.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Significant Bit (MSB) : The leftmost bit in a MIPS word..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926B63-0800-4CB2-959C-74D7FD35C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345" y="3926304"/>
            <a:ext cx="7559699" cy="685896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65C5AACB-3740-4D58-AD79-2B52232586D3}"/>
              </a:ext>
            </a:extLst>
          </p:cNvPr>
          <p:cNvSpPr/>
          <p:nvPr/>
        </p:nvSpPr>
        <p:spPr>
          <a:xfrm>
            <a:off x="9166578" y="2870446"/>
            <a:ext cx="2799645" cy="519922"/>
          </a:xfrm>
          <a:prstGeom prst="wedgeRectCallout">
            <a:avLst>
              <a:gd name="adj1" fmla="val -38575"/>
              <a:gd name="adj2" fmla="val 151521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Least Significant Bit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56917D3B-8EFB-468D-9590-F34C7B777C77}"/>
              </a:ext>
            </a:extLst>
          </p:cNvPr>
          <p:cNvSpPr/>
          <p:nvPr/>
        </p:nvSpPr>
        <p:spPr>
          <a:xfrm>
            <a:off x="383821" y="4888175"/>
            <a:ext cx="2799645" cy="519922"/>
          </a:xfrm>
          <a:prstGeom prst="wedgeRectCallout">
            <a:avLst>
              <a:gd name="adj1" fmla="val 25538"/>
              <a:gd name="adj2" fmla="val -142189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Most Significant Bit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4E7144D-3138-46B1-8E7F-BDD55B494F11}"/>
              </a:ext>
            </a:extLst>
          </p:cNvPr>
          <p:cNvSpPr/>
          <p:nvPr/>
        </p:nvSpPr>
        <p:spPr>
          <a:xfrm rot="5400000">
            <a:off x="5596190" y="101404"/>
            <a:ext cx="685896" cy="6953422"/>
          </a:xfrm>
          <a:prstGeom prst="leftBrace">
            <a:avLst>
              <a:gd name="adj1" fmla="val 8333"/>
              <a:gd name="adj2" fmla="val 503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F6396-7FE0-43B8-9AA7-B40107DB5E54}"/>
              </a:ext>
            </a:extLst>
          </p:cNvPr>
          <p:cNvSpPr txBox="1"/>
          <p:nvPr/>
        </p:nvSpPr>
        <p:spPr>
          <a:xfrm>
            <a:off x="5579509" y="2964004"/>
            <a:ext cx="794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word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759EBFE-C759-4353-877C-B343771E6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9578" y="-50458"/>
            <a:ext cx="8263773" cy="706274"/>
          </a:xfrm>
        </p:spPr>
        <p:txBody>
          <a:bodyPr>
            <a:normAutofit fontScale="90000"/>
          </a:bodyPr>
          <a:lstStyle/>
          <a:p>
            <a:r>
              <a:rPr lang="en-US" dirty="0"/>
              <a:t>Signed and unsigned numbers</a:t>
            </a:r>
          </a:p>
        </p:txBody>
      </p:sp>
    </p:spTree>
    <p:extLst>
      <p:ext uri="{BB962C8B-B14F-4D97-AF65-F5344CB8AC3E}">
        <p14:creationId xmlns:p14="http://schemas.microsoft.com/office/powerpoint/2010/main" val="3140087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ACDB3-068A-4812-AB3E-E99D9BD24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6357" y="0"/>
            <a:ext cx="9816702" cy="679622"/>
          </a:xfrm>
        </p:spPr>
        <p:txBody>
          <a:bodyPr>
            <a:normAutofit fontScale="90000"/>
          </a:bodyPr>
          <a:lstStyle/>
          <a:p>
            <a:r>
              <a:rPr lang="en-US" dirty="0"/>
              <a:t>Signed and unsigned numbers </a:t>
            </a:r>
            <a:r>
              <a:rPr lang="en-US" dirty="0" err="1"/>
              <a:t>contd</a:t>
            </a:r>
            <a:r>
              <a:rPr lang="en-US" dirty="0"/>
              <a:t>….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9E3053-742F-4241-8FE3-307A8B0DA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2939"/>
            <a:ext cx="11454713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Overflow: when the results of an operation are larger than can be represented in a register. </a:t>
            </a:r>
          </a:p>
          <a:p>
            <a:pPr marL="285750" indent="-285750"/>
            <a:r>
              <a:rPr lang="en-US" dirty="0"/>
              <a:t>A sign and magnitude representation is a signed number representation where a single bit is used to represent the sign, and the remaining bits represent the magnitude. </a:t>
            </a:r>
          </a:p>
          <a:p>
            <a:pPr marL="285750" indent="-285750"/>
            <a:r>
              <a:rPr lang="en-US" dirty="0"/>
              <a:t>Usually, MSB is used to represent the sign of the number as shown in the example below,</a:t>
            </a:r>
          </a:p>
          <a:p>
            <a:pPr marL="285750" indent="-28575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B7BC2-D89E-44B6-B870-60A0B3054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850" y="2530040"/>
            <a:ext cx="5992061" cy="6382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0C6FCCC-6A49-4DE0-B841-34949DB8A89A}"/>
              </a:ext>
            </a:extLst>
          </p:cNvPr>
          <p:cNvSpPr/>
          <p:nvPr/>
        </p:nvSpPr>
        <p:spPr>
          <a:xfrm>
            <a:off x="457201" y="3283460"/>
            <a:ext cx="1098515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Two's complement: A signed number representation where a leading 0 indicates a positive number and a leading 1 indicates a negative number. The complement of a value is obtained by complementing each bit (0 → 1 or 1 → 0), and then adding one to the result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One's complement: A notation that represents the most negative value by 10 … 000</a:t>
            </a:r>
            <a:r>
              <a:rPr lang="en-US" baseline="-25000" dirty="0"/>
              <a:t>two</a:t>
            </a:r>
            <a:r>
              <a:rPr lang="en-US" dirty="0"/>
              <a:t> and the most positive value by 01 … 11</a:t>
            </a:r>
            <a:r>
              <a:rPr lang="en-US" baseline="-25000" dirty="0"/>
              <a:t>two</a:t>
            </a:r>
            <a:r>
              <a:rPr lang="en-US" dirty="0"/>
              <a:t>, leaving an equal number of negatives and positives but ending up with two zeros, one positive (00 … 00</a:t>
            </a:r>
            <a:r>
              <a:rPr lang="en-US" baseline="-25000" dirty="0"/>
              <a:t>two</a:t>
            </a:r>
            <a:r>
              <a:rPr lang="en-US" dirty="0"/>
              <a:t>) and one negative (11 … 11</a:t>
            </a:r>
            <a:r>
              <a:rPr lang="en-US" baseline="-25000" dirty="0"/>
              <a:t>two</a:t>
            </a:r>
            <a:r>
              <a:rPr lang="en-US" dirty="0"/>
              <a:t>). The term is also used to mean the inversion of every bit in a pattern: 0 to 1 and 1 to 0. </a:t>
            </a:r>
          </a:p>
        </p:txBody>
      </p:sp>
    </p:spTree>
    <p:extLst>
      <p:ext uri="{BB962C8B-B14F-4D97-AF65-F5344CB8AC3E}">
        <p14:creationId xmlns:p14="http://schemas.microsoft.com/office/powerpoint/2010/main" val="2550935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DA7CD03-13B8-498B-AD8F-480324EDC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8817" y="855855"/>
            <a:ext cx="7860215" cy="2497663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3EE13879-42BD-4114-A4AA-15FC5CEF630A}"/>
              </a:ext>
            </a:extLst>
          </p:cNvPr>
          <p:cNvSpPr/>
          <p:nvPr/>
        </p:nvSpPr>
        <p:spPr>
          <a:xfrm>
            <a:off x="247136" y="855857"/>
            <a:ext cx="2669066" cy="495916"/>
          </a:xfrm>
          <a:prstGeom prst="wedgeRectCallout">
            <a:avLst>
              <a:gd name="adj1" fmla="val 88942"/>
              <a:gd name="adj2" fmla="val -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Binary representation of 2 in 32 bits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526A93A4-FFC2-4DE3-A1A9-5215921C2FDF}"/>
              </a:ext>
            </a:extLst>
          </p:cNvPr>
          <p:cNvSpPr/>
          <p:nvPr/>
        </p:nvSpPr>
        <p:spPr>
          <a:xfrm>
            <a:off x="247136" y="1619915"/>
            <a:ext cx="3015048" cy="971727"/>
          </a:xfrm>
          <a:prstGeom prst="wedgeRectCallout">
            <a:avLst>
              <a:gd name="adj1" fmla="val 107916"/>
              <a:gd name="adj2" fmla="val -140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Binary representation of 1’s complement of number 2 in 32 bits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EEA837A1-5471-4B09-9CE9-FFF5A424B972}"/>
              </a:ext>
            </a:extLst>
          </p:cNvPr>
          <p:cNvSpPr/>
          <p:nvPr/>
        </p:nvSpPr>
        <p:spPr>
          <a:xfrm>
            <a:off x="247136" y="3031864"/>
            <a:ext cx="3015048" cy="971726"/>
          </a:xfrm>
          <a:prstGeom prst="wedgeRectCallout">
            <a:avLst>
              <a:gd name="adj1" fmla="val 108095"/>
              <a:gd name="adj2" fmla="val -810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Binary representation of 2’s complement of number 2 in 32 bits, which is -2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4785E6-5ED2-4A0E-99FD-3337F0CE3C17}"/>
              </a:ext>
            </a:extLst>
          </p:cNvPr>
          <p:cNvSpPr txBox="1"/>
          <p:nvPr/>
        </p:nvSpPr>
        <p:spPr>
          <a:xfrm>
            <a:off x="4151870" y="16454"/>
            <a:ext cx="612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/>
              <a:t>’s complement and 2’s complement 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C79545-B912-4069-9ACA-0DF176330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818" y="4361936"/>
            <a:ext cx="7860214" cy="21734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F1A141-B200-448A-84B8-997F0FE1AD24}"/>
              </a:ext>
            </a:extLst>
          </p:cNvPr>
          <p:cNvSpPr txBox="1"/>
          <p:nvPr/>
        </p:nvSpPr>
        <p:spPr>
          <a:xfrm>
            <a:off x="753762" y="444843"/>
            <a:ext cx="2038865" cy="3693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4C17FD-C980-4317-B95D-63159E4C7D35}"/>
              </a:ext>
            </a:extLst>
          </p:cNvPr>
          <p:cNvSpPr txBox="1"/>
          <p:nvPr/>
        </p:nvSpPr>
        <p:spPr>
          <a:xfrm>
            <a:off x="432486" y="4534930"/>
            <a:ext cx="2483716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Example 2</a:t>
            </a: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77B8BB03-4507-4FEB-A798-5032F5E54450}"/>
              </a:ext>
            </a:extLst>
          </p:cNvPr>
          <p:cNvSpPr/>
          <p:nvPr/>
        </p:nvSpPr>
        <p:spPr>
          <a:xfrm>
            <a:off x="166820" y="5093457"/>
            <a:ext cx="3015048" cy="495916"/>
          </a:xfrm>
          <a:prstGeom prst="wedgeRectCallout">
            <a:avLst>
              <a:gd name="adj1" fmla="val 69346"/>
              <a:gd name="adj2" fmla="val -1574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Binary representation of -2 in 32 bits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8748DF29-F530-495F-BF1C-B472D372A297}"/>
              </a:ext>
            </a:extLst>
          </p:cNvPr>
          <p:cNvSpPr/>
          <p:nvPr/>
        </p:nvSpPr>
        <p:spPr>
          <a:xfrm>
            <a:off x="166820" y="5852710"/>
            <a:ext cx="3015048" cy="971727"/>
          </a:xfrm>
          <a:prstGeom prst="wedgeRectCallout">
            <a:avLst>
              <a:gd name="adj1" fmla="val 107097"/>
              <a:gd name="adj2" fmla="val -890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Binary representation of 1’s complement of number 2 in 32 bits</a:t>
            </a: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5492C9A9-2E66-408D-A37B-AAAAC8188261}"/>
              </a:ext>
            </a:extLst>
          </p:cNvPr>
          <p:cNvSpPr/>
          <p:nvPr/>
        </p:nvSpPr>
        <p:spPr>
          <a:xfrm>
            <a:off x="7502610" y="6174599"/>
            <a:ext cx="4421660" cy="683401"/>
          </a:xfrm>
          <a:prstGeom prst="wedgeRectCallout">
            <a:avLst>
              <a:gd name="adj1" fmla="val -75512"/>
              <a:gd name="adj2" fmla="val -518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Binary representation of 2’s complement of number -2 in 32 bits, which is 2</a:t>
            </a:r>
          </a:p>
        </p:txBody>
      </p:sp>
    </p:spTree>
    <p:extLst>
      <p:ext uri="{BB962C8B-B14F-4D97-AF65-F5344CB8AC3E}">
        <p14:creationId xmlns:p14="http://schemas.microsoft.com/office/powerpoint/2010/main" val="3106948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96E42-FEFB-4267-99F1-491FD0916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24432"/>
            <a:ext cx="7729728" cy="493405"/>
          </a:xfrm>
        </p:spPr>
        <p:txBody>
          <a:bodyPr>
            <a:normAutofit fontScale="90000"/>
          </a:bodyPr>
          <a:lstStyle/>
          <a:p>
            <a:r>
              <a:rPr lang="en-US" dirty="0"/>
              <a:t>MIPS instruction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C5E74-0C54-438A-BD9A-043D88ED5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627" y="976185"/>
            <a:ext cx="10911016" cy="4763844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Instruction format: </a:t>
            </a:r>
            <a:r>
              <a:rPr lang="en-US" dirty="0"/>
              <a:t>A form of representation of an instruction composed of fields of binary numbers.</a:t>
            </a:r>
          </a:p>
          <a:p>
            <a:r>
              <a:rPr lang="en-US" dirty="0"/>
              <a:t>A </a:t>
            </a:r>
            <a:r>
              <a:rPr lang="en-US" dirty="0">
                <a:highlight>
                  <a:srgbClr val="FFFF00"/>
                </a:highlight>
              </a:rPr>
              <a:t>R-type or Register-type MIPS instruction format </a:t>
            </a:r>
            <a:r>
              <a:rPr lang="en-US" dirty="0"/>
              <a:t>is given below: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The meaning of each name of the fields in MIPS instructions is given below:</a:t>
            </a:r>
          </a:p>
          <a:p>
            <a:pPr marL="0" indent="0">
              <a:buNone/>
            </a:pPr>
            <a:r>
              <a:rPr lang="en-US" dirty="0"/>
              <a:t>    op : Basic operation of the instruction, traditionally called the opcode.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rs</a:t>
            </a:r>
            <a:r>
              <a:rPr lang="en-US" dirty="0"/>
              <a:t>: The first register source operand.</a:t>
            </a:r>
          </a:p>
          <a:p>
            <a:pPr marL="0" indent="0">
              <a:buNone/>
            </a:pPr>
            <a:r>
              <a:rPr lang="en-US" dirty="0"/>
              <a:t>    rt: The second register source operand.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rd</a:t>
            </a:r>
            <a:r>
              <a:rPr lang="en-US" dirty="0"/>
              <a:t>: The register destination operand. It gets the result of the operation.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shamt</a:t>
            </a:r>
            <a:r>
              <a:rPr lang="en-US" dirty="0"/>
              <a:t>: Shift amount. (COD Section 2.6 (Logical operations) explains shift instructions and this term; it will not be used until then, and hence the field contains zero in this section.)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funct</a:t>
            </a:r>
            <a:r>
              <a:rPr lang="en-US" dirty="0"/>
              <a:t>: Function. This field, often called the function code, selects the specific variant of the operation in the op field.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87E8FB-3357-48AC-9948-F1EAAB8D1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851" y="1886843"/>
            <a:ext cx="8477527" cy="7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45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C84F-040D-491F-A21C-89E8125C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907" y="102398"/>
            <a:ext cx="7729728" cy="687939"/>
          </a:xfrm>
        </p:spPr>
        <p:txBody>
          <a:bodyPr>
            <a:normAutofit fontScale="90000"/>
          </a:bodyPr>
          <a:lstStyle/>
          <a:p>
            <a:r>
              <a:rPr lang="en-US" sz="1800" b="1" i="0" u="none" strike="noStrike" baseline="0" dirty="0">
                <a:latin typeface="ITCFranklinGothicStd-Hvy"/>
              </a:rPr>
              <a:t>Translating a MIPS Assembly Instruction into a Machine Instruction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4CC16-3FFF-4E59-9F8E-E45023E6DA69}"/>
              </a:ext>
            </a:extLst>
          </p:cNvPr>
          <p:cNvSpPr txBox="1"/>
          <p:nvPr/>
        </p:nvSpPr>
        <p:spPr>
          <a:xfrm>
            <a:off x="805343" y="1015068"/>
            <a:ext cx="1023456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600" dirty="0">
              <a:latin typeface="LetterGothicStd"/>
            </a:endParaRPr>
          </a:p>
          <a:p>
            <a:pPr algn="l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5492CE-376F-41AA-ADC9-10625EA4A98A}"/>
              </a:ext>
            </a:extLst>
          </p:cNvPr>
          <p:cNvSpPr txBox="1"/>
          <p:nvPr/>
        </p:nvSpPr>
        <p:spPr>
          <a:xfrm>
            <a:off x="3288484" y="985814"/>
            <a:ext cx="419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Refer 2.5.1 participation activity in </a:t>
            </a:r>
            <a:r>
              <a:rPr lang="en-US" dirty="0" err="1">
                <a:highlight>
                  <a:srgbClr val="FFFF00"/>
                </a:highlight>
              </a:rPr>
              <a:t>zybooks</a:t>
            </a:r>
            <a:r>
              <a:rPr lang="en-US" dirty="0"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E28726-C1B4-408D-AA92-7D1FB1D2BC22}"/>
              </a:ext>
            </a:extLst>
          </p:cNvPr>
          <p:cNvSpPr txBox="1"/>
          <p:nvPr/>
        </p:nvSpPr>
        <p:spPr>
          <a:xfrm>
            <a:off x="92279" y="985814"/>
            <a:ext cx="7729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for R-type instruction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3DF902-86F8-4772-9611-756FBA1B9FF7}"/>
              </a:ext>
            </a:extLst>
          </p:cNvPr>
          <p:cNvSpPr txBox="1"/>
          <p:nvPr/>
        </p:nvSpPr>
        <p:spPr>
          <a:xfrm>
            <a:off x="463492" y="1579877"/>
            <a:ext cx="28249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Instruction 	Function</a:t>
            </a:r>
          </a:p>
          <a:p>
            <a:r>
              <a:rPr lang="en-US" dirty="0"/>
              <a:t>add 	</a:t>
            </a:r>
            <a:r>
              <a:rPr lang="en-US" dirty="0" err="1"/>
              <a:t>rd</a:t>
            </a:r>
            <a:r>
              <a:rPr lang="en-US" dirty="0"/>
              <a:t>, </a:t>
            </a:r>
            <a:r>
              <a:rPr lang="en-US" dirty="0" err="1"/>
              <a:t>rs</a:t>
            </a:r>
            <a:r>
              <a:rPr lang="en-US" dirty="0"/>
              <a:t>, rt 	100000</a:t>
            </a:r>
          </a:p>
          <a:p>
            <a:r>
              <a:rPr lang="en-US" dirty="0" err="1"/>
              <a:t>addu</a:t>
            </a:r>
            <a:r>
              <a:rPr lang="en-US" dirty="0"/>
              <a:t> </a:t>
            </a:r>
            <a:r>
              <a:rPr lang="en-US" dirty="0" err="1"/>
              <a:t>rd</a:t>
            </a:r>
            <a:r>
              <a:rPr lang="en-US" dirty="0"/>
              <a:t>, </a:t>
            </a:r>
            <a:r>
              <a:rPr lang="en-US" dirty="0" err="1"/>
              <a:t>rs</a:t>
            </a:r>
            <a:r>
              <a:rPr lang="en-US" dirty="0"/>
              <a:t>, rt 	100001</a:t>
            </a:r>
          </a:p>
          <a:p>
            <a:r>
              <a:rPr lang="en-US" dirty="0"/>
              <a:t>and 	</a:t>
            </a:r>
            <a:r>
              <a:rPr lang="en-US" dirty="0" err="1"/>
              <a:t>rd</a:t>
            </a:r>
            <a:r>
              <a:rPr lang="en-US" dirty="0"/>
              <a:t>, </a:t>
            </a:r>
            <a:r>
              <a:rPr lang="en-US" dirty="0" err="1"/>
              <a:t>rs</a:t>
            </a:r>
            <a:r>
              <a:rPr lang="en-US" dirty="0"/>
              <a:t>, rt 	100100</a:t>
            </a:r>
          </a:p>
          <a:p>
            <a:r>
              <a:rPr lang="en-US" dirty="0"/>
              <a:t>break 		001101</a:t>
            </a:r>
          </a:p>
          <a:p>
            <a:r>
              <a:rPr lang="en-US" dirty="0"/>
              <a:t>div 	</a:t>
            </a:r>
            <a:r>
              <a:rPr lang="en-US" dirty="0" err="1"/>
              <a:t>rs</a:t>
            </a:r>
            <a:r>
              <a:rPr lang="en-US" dirty="0"/>
              <a:t>, rt 	011010</a:t>
            </a:r>
          </a:p>
          <a:p>
            <a:r>
              <a:rPr lang="en-US" dirty="0" err="1"/>
              <a:t>divu</a:t>
            </a:r>
            <a:r>
              <a:rPr lang="en-US" dirty="0"/>
              <a:t> 	</a:t>
            </a:r>
            <a:r>
              <a:rPr lang="en-US" dirty="0" err="1"/>
              <a:t>rs</a:t>
            </a:r>
            <a:r>
              <a:rPr lang="en-US" dirty="0"/>
              <a:t>, rt 	011011</a:t>
            </a:r>
          </a:p>
          <a:p>
            <a:r>
              <a:rPr lang="en-US" dirty="0" err="1"/>
              <a:t>mult</a:t>
            </a:r>
            <a:r>
              <a:rPr lang="en-US" dirty="0"/>
              <a:t> 	</a:t>
            </a:r>
            <a:r>
              <a:rPr lang="en-US" dirty="0" err="1"/>
              <a:t>rs</a:t>
            </a:r>
            <a:r>
              <a:rPr lang="en-US" dirty="0"/>
              <a:t>, rt  011000</a:t>
            </a:r>
          </a:p>
          <a:p>
            <a:r>
              <a:rPr lang="en-US" dirty="0" err="1"/>
              <a:t>multu</a:t>
            </a:r>
            <a:r>
              <a:rPr lang="en-US" dirty="0"/>
              <a:t> 	</a:t>
            </a:r>
            <a:r>
              <a:rPr lang="en-US" dirty="0" err="1"/>
              <a:t>rs</a:t>
            </a:r>
            <a:r>
              <a:rPr lang="en-US" dirty="0"/>
              <a:t>, rt  011001</a:t>
            </a:r>
          </a:p>
          <a:p>
            <a:r>
              <a:rPr lang="en-US" dirty="0"/>
              <a:t>nor 	</a:t>
            </a:r>
            <a:r>
              <a:rPr lang="en-US" dirty="0" err="1"/>
              <a:t>rd</a:t>
            </a:r>
            <a:r>
              <a:rPr lang="en-US" dirty="0"/>
              <a:t>, </a:t>
            </a:r>
            <a:r>
              <a:rPr lang="en-US" dirty="0" err="1"/>
              <a:t>rs</a:t>
            </a:r>
            <a:r>
              <a:rPr lang="en-US" dirty="0"/>
              <a:t>, rt 	100111</a:t>
            </a:r>
          </a:p>
          <a:p>
            <a:r>
              <a:rPr lang="en-US" dirty="0"/>
              <a:t>or 	</a:t>
            </a:r>
            <a:r>
              <a:rPr lang="en-US" dirty="0" err="1"/>
              <a:t>rd</a:t>
            </a:r>
            <a:r>
              <a:rPr lang="en-US" dirty="0"/>
              <a:t>, </a:t>
            </a:r>
            <a:r>
              <a:rPr lang="en-US" dirty="0" err="1"/>
              <a:t>rs</a:t>
            </a:r>
            <a:r>
              <a:rPr lang="en-US" dirty="0"/>
              <a:t>, rt 	100101</a:t>
            </a:r>
          </a:p>
          <a:p>
            <a:r>
              <a:rPr lang="en-US" dirty="0" err="1"/>
              <a:t>sll</a:t>
            </a:r>
            <a:r>
              <a:rPr lang="en-US" dirty="0"/>
              <a:t> 	</a:t>
            </a:r>
            <a:r>
              <a:rPr lang="en-US" dirty="0" err="1"/>
              <a:t>rd</a:t>
            </a:r>
            <a:r>
              <a:rPr lang="en-US" dirty="0"/>
              <a:t>, rt, </a:t>
            </a:r>
            <a:r>
              <a:rPr lang="en-US" dirty="0" err="1"/>
              <a:t>sa</a:t>
            </a:r>
            <a:r>
              <a:rPr lang="en-US" dirty="0"/>
              <a:t> 	000000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6AC413-3225-4DCA-9C0F-C5146A60D8DB}"/>
              </a:ext>
            </a:extLst>
          </p:cNvPr>
          <p:cNvSpPr txBox="1"/>
          <p:nvPr/>
        </p:nvSpPr>
        <p:spPr>
          <a:xfrm>
            <a:off x="5287161" y="1579877"/>
            <a:ext cx="60946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				Instruction 	Function</a:t>
            </a:r>
          </a:p>
          <a:p>
            <a:r>
              <a:rPr lang="en-US" dirty="0"/>
              <a:t>(Set on less than)     </a:t>
            </a:r>
            <a:r>
              <a:rPr lang="en-US" dirty="0" err="1"/>
              <a:t>slt</a:t>
            </a:r>
            <a:r>
              <a:rPr lang="en-US" dirty="0"/>
              <a:t> 	</a:t>
            </a:r>
            <a:r>
              <a:rPr lang="en-US" dirty="0" err="1"/>
              <a:t>rd</a:t>
            </a:r>
            <a:r>
              <a:rPr lang="en-US" dirty="0"/>
              <a:t>, </a:t>
            </a:r>
            <a:r>
              <a:rPr lang="en-US" dirty="0" err="1"/>
              <a:t>rs</a:t>
            </a:r>
            <a:r>
              <a:rPr lang="en-US" dirty="0"/>
              <a:t>, rt 	101010</a:t>
            </a:r>
          </a:p>
          <a:p>
            <a:r>
              <a:rPr lang="en-US" dirty="0"/>
              <a:t>                               </a:t>
            </a:r>
            <a:r>
              <a:rPr lang="en-US" dirty="0" err="1"/>
              <a:t>sltu</a:t>
            </a:r>
            <a:r>
              <a:rPr lang="en-US" dirty="0"/>
              <a:t> 	</a:t>
            </a:r>
            <a:r>
              <a:rPr lang="en-US" dirty="0" err="1"/>
              <a:t>rd</a:t>
            </a:r>
            <a:r>
              <a:rPr lang="en-US" dirty="0"/>
              <a:t>, </a:t>
            </a:r>
            <a:r>
              <a:rPr lang="en-US" dirty="0" err="1"/>
              <a:t>rs</a:t>
            </a:r>
            <a:r>
              <a:rPr lang="en-US" dirty="0"/>
              <a:t>, rt 	101011</a:t>
            </a:r>
          </a:p>
          <a:p>
            <a:r>
              <a:rPr lang="en-US" dirty="0"/>
              <a:t>(shift right arithmetic)  </a:t>
            </a:r>
            <a:r>
              <a:rPr lang="en-US" dirty="0" err="1"/>
              <a:t>sra</a:t>
            </a:r>
            <a:r>
              <a:rPr lang="en-US" dirty="0"/>
              <a:t> 	</a:t>
            </a:r>
            <a:r>
              <a:rPr lang="en-US" dirty="0" err="1"/>
              <a:t>rd</a:t>
            </a:r>
            <a:r>
              <a:rPr lang="en-US" dirty="0"/>
              <a:t>, rt, </a:t>
            </a:r>
            <a:r>
              <a:rPr lang="en-US" dirty="0" err="1"/>
              <a:t>sa</a:t>
            </a:r>
            <a:r>
              <a:rPr lang="en-US" dirty="0"/>
              <a:t> 	000011</a:t>
            </a:r>
          </a:p>
          <a:p>
            <a:r>
              <a:rPr lang="en-US" dirty="0"/>
              <a:t>                                  </a:t>
            </a:r>
            <a:r>
              <a:rPr lang="en-US" dirty="0" err="1"/>
              <a:t>srl</a:t>
            </a:r>
            <a:r>
              <a:rPr lang="en-US" dirty="0"/>
              <a:t> 	</a:t>
            </a:r>
            <a:r>
              <a:rPr lang="en-US" dirty="0" err="1"/>
              <a:t>rd</a:t>
            </a:r>
            <a:r>
              <a:rPr lang="en-US" dirty="0"/>
              <a:t>, rt, </a:t>
            </a:r>
            <a:r>
              <a:rPr lang="en-US" dirty="0" err="1"/>
              <a:t>sa</a:t>
            </a:r>
            <a:r>
              <a:rPr lang="en-US" dirty="0"/>
              <a:t> 	000010</a:t>
            </a:r>
          </a:p>
          <a:p>
            <a:r>
              <a:rPr lang="en-US" dirty="0"/>
              <a:t>                                  sub 	</a:t>
            </a:r>
            <a:r>
              <a:rPr lang="en-US" dirty="0" err="1"/>
              <a:t>rd</a:t>
            </a:r>
            <a:r>
              <a:rPr lang="en-US" dirty="0"/>
              <a:t>, </a:t>
            </a:r>
            <a:r>
              <a:rPr lang="en-US" dirty="0" err="1"/>
              <a:t>rs</a:t>
            </a:r>
            <a:r>
              <a:rPr lang="en-US" dirty="0"/>
              <a:t>, rt 	100010</a:t>
            </a:r>
          </a:p>
          <a:p>
            <a:r>
              <a:rPr lang="en-US" dirty="0"/>
              <a:t>                                  </a:t>
            </a:r>
            <a:r>
              <a:rPr lang="en-US" dirty="0" err="1"/>
              <a:t>subu</a:t>
            </a:r>
            <a:r>
              <a:rPr lang="en-US" dirty="0"/>
              <a:t> </a:t>
            </a:r>
            <a:r>
              <a:rPr lang="en-US" dirty="0" err="1"/>
              <a:t>rd</a:t>
            </a:r>
            <a:r>
              <a:rPr lang="en-US" dirty="0"/>
              <a:t>, </a:t>
            </a:r>
            <a:r>
              <a:rPr lang="en-US" dirty="0" err="1"/>
              <a:t>rs</a:t>
            </a:r>
            <a:r>
              <a:rPr lang="en-US" dirty="0"/>
              <a:t>, rt 	100011</a:t>
            </a:r>
          </a:p>
          <a:p>
            <a:r>
              <a:rPr lang="en-US" dirty="0"/>
              <a:t>   (system call)            </a:t>
            </a:r>
            <a:r>
              <a:rPr lang="en-US" dirty="0" err="1"/>
              <a:t>syscall</a:t>
            </a:r>
            <a:r>
              <a:rPr lang="en-US" dirty="0"/>
              <a:t> 		001100</a:t>
            </a:r>
          </a:p>
          <a:p>
            <a:r>
              <a:rPr lang="en-US" dirty="0"/>
              <a:t>                                  </a:t>
            </a:r>
            <a:r>
              <a:rPr lang="en-US" dirty="0" err="1"/>
              <a:t>xor</a:t>
            </a:r>
            <a:r>
              <a:rPr lang="en-US" dirty="0"/>
              <a:t> 	</a:t>
            </a:r>
            <a:r>
              <a:rPr lang="en-US" dirty="0" err="1"/>
              <a:t>rd</a:t>
            </a:r>
            <a:r>
              <a:rPr lang="en-US" dirty="0"/>
              <a:t>, </a:t>
            </a:r>
            <a:r>
              <a:rPr lang="en-US" dirty="0" err="1"/>
              <a:t>rs</a:t>
            </a:r>
            <a:r>
              <a:rPr lang="en-US" dirty="0"/>
              <a:t>, rt 	100110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DFDEE8-A355-4213-88FE-8E8BC1BA09AF}"/>
              </a:ext>
            </a:extLst>
          </p:cNvPr>
          <p:cNvSpPr txBox="1"/>
          <p:nvPr/>
        </p:nvSpPr>
        <p:spPr>
          <a:xfrm>
            <a:off x="7071919" y="4899171"/>
            <a:ext cx="2239861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sla</a:t>
            </a:r>
            <a:r>
              <a:rPr lang="en-US" dirty="0"/>
              <a:t> MIPS instruction? </a:t>
            </a:r>
          </a:p>
        </p:txBody>
      </p:sp>
    </p:spTree>
    <p:extLst>
      <p:ext uri="{BB962C8B-B14F-4D97-AF65-F5344CB8AC3E}">
        <p14:creationId xmlns:p14="http://schemas.microsoft.com/office/powerpoint/2010/main" val="1786800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DE0B1-EE87-45AC-A8BB-93FC5E594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843" y="1117974"/>
            <a:ext cx="9516021" cy="4622054"/>
          </a:xfrm>
        </p:spPr>
        <p:txBody>
          <a:bodyPr>
            <a:normAutofit/>
          </a:bodyPr>
          <a:lstStyle/>
          <a:p>
            <a:r>
              <a:rPr lang="en-US" dirty="0"/>
              <a:t> I-type (for immediate) or I-format and is used by the immediate and data transfer instruction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19373-F4BC-4474-B495-CE9AFF32212F}"/>
              </a:ext>
            </a:extLst>
          </p:cNvPr>
          <p:cNvSpPr txBox="1"/>
          <p:nvPr/>
        </p:nvSpPr>
        <p:spPr>
          <a:xfrm>
            <a:off x="444843" y="191591"/>
            <a:ext cx="5226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I-type or Immediate-type MIPS instruction format: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AE5AC9-0689-4512-9F5C-18175E2C7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865" y="1588191"/>
            <a:ext cx="5959965" cy="54300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FE0504-2027-401B-A71E-258288D27CD1}"/>
              </a:ext>
            </a:extLst>
          </p:cNvPr>
          <p:cNvSpPr txBox="1"/>
          <p:nvPr/>
        </p:nvSpPr>
        <p:spPr>
          <a:xfrm>
            <a:off x="1260446" y="2601409"/>
            <a:ext cx="8445616" cy="254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The meaning of each name of the fields in MIPS instructions is given below: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   op : Basic operation of the instruction, traditionally called the opcode.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: The first register source operand.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   rt: The second register source operand.</a:t>
            </a:r>
          </a:p>
          <a:p>
            <a:pPr lvl="0" defTabSz="914400">
              <a:spcBef>
                <a:spcPts val="1000"/>
              </a:spcBef>
              <a:buClr>
                <a:srgbClr val="9BAFB5"/>
              </a:buClr>
              <a:defRPr/>
            </a:pPr>
            <a:r>
              <a:rPr lang="en-US" dirty="0">
                <a:solidFill>
                  <a:srgbClr val="000000">
                    <a:lumMod val="85000"/>
                    <a:lumOff val="15000"/>
                  </a:srgbClr>
                </a:solidFill>
                <a:latin typeface="Gill Sans MT" panose="020B0502020104020203"/>
              </a:rPr>
              <a:t>    constant or address: </a:t>
            </a:r>
            <a:r>
              <a:rPr lang="en-US" dirty="0">
                <a:solidFill>
                  <a:srgbClr val="000000">
                    <a:lumMod val="85000"/>
                    <a:lumOff val="15000"/>
                  </a:srgbClr>
                </a:solidFill>
              </a:rPr>
              <a:t>The 16-bit address means a load word instruction can load any word within a region of ±215 or 32,768 bytes (±213 or 8192 words) of the address in the base register </a:t>
            </a:r>
            <a:r>
              <a:rPr lang="en-US" dirty="0" err="1">
                <a:solidFill>
                  <a:srgbClr val="000000">
                    <a:lumMod val="85000"/>
                    <a:lumOff val="15000"/>
                  </a:srgbClr>
                </a:solidFill>
              </a:rPr>
              <a:t>rs</a:t>
            </a:r>
            <a:r>
              <a:rPr lang="en-US" dirty="0">
                <a:solidFill>
                  <a:srgbClr val="000000">
                    <a:lumMod val="85000"/>
                    <a:lumOff val="15000"/>
                  </a:srgbClr>
                </a:solidFill>
              </a:rPr>
              <a:t>.</a:t>
            </a:r>
            <a:endParaRPr lang="en-US" dirty="0">
              <a:solidFill>
                <a:srgbClr val="000000">
                  <a:lumMod val="85000"/>
                  <a:lumOff val="15000"/>
                </a:srgbClr>
              </a:solidFill>
              <a:latin typeface="Gill Sans MT" panose="020B0502020104020203"/>
            </a:endParaRPr>
          </a:p>
        </p:txBody>
      </p:sp>
    </p:spTree>
    <p:extLst>
      <p:ext uri="{BB962C8B-B14F-4D97-AF65-F5344CB8AC3E}">
        <p14:creationId xmlns:p14="http://schemas.microsoft.com/office/powerpoint/2010/main" val="4255012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4D881-9ADC-42BC-BED8-55598432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3297" y="201336"/>
            <a:ext cx="7729728" cy="553674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for I type instruction format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69B96E8-CA6C-4AA5-8075-9919FE85E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662378"/>
              </p:ext>
            </p:extLst>
          </p:nvPr>
        </p:nvGraphicFramePr>
        <p:xfrm>
          <a:off x="1721607" y="1759901"/>
          <a:ext cx="5509703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2987">
                  <a:extLst>
                    <a:ext uri="{9D8B030D-6E8A-4147-A177-3AD203B41FA5}">
                      <a16:colId xmlns:a16="http://schemas.microsoft.com/office/drawing/2014/main" val="3269173273"/>
                    </a:ext>
                  </a:extLst>
                </a:gridCol>
                <a:gridCol w="1400962">
                  <a:extLst>
                    <a:ext uri="{9D8B030D-6E8A-4147-A177-3AD203B41FA5}">
                      <a16:colId xmlns:a16="http://schemas.microsoft.com/office/drawing/2014/main" val="2219733816"/>
                    </a:ext>
                  </a:extLst>
                </a:gridCol>
                <a:gridCol w="1392572">
                  <a:extLst>
                    <a:ext uri="{9D8B030D-6E8A-4147-A177-3AD203B41FA5}">
                      <a16:colId xmlns:a16="http://schemas.microsoft.com/office/drawing/2014/main" val="1455219905"/>
                    </a:ext>
                  </a:extLst>
                </a:gridCol>
                <a:gridCol w="1233182">
                  <a:extLst>
                    <a:ext uri="{9D8B030D-6E8A-4147-A177-3AD203B41FA5}">
                      <a16:colId xmlns:a16="http://schemas.microsoft.com/office/drawing/2014/main" val="3209065175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r>
                        <a:rPr lang="en-US" dirty="0"/>
                        <a:t>35 ( for </a:t>
                      </a:r>
                      <a:r>
                        <a:rPr lang="en-US" dirty="0" err="1"/>
                        <a:t>lw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 (for $s3)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8 (for $t0)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9075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B0E67D8-C399-482C-8313-104E99BF2E01}"/>
              </a:ext>
            </a:extLst>
          </p:cNvPr>
          <p:cNvSpPr txBox="1"/>
          <p:nvPr/>
        </p:nvSpPr>
        <p:spPr>
          <a:xfrm>
            <a:off x="1518073" y="2137920"/>
            <a:ext cx="1753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Opcode </a:t>
            </a:r>
          </a:p>
          <a:p>
            <a:r>
              <a:rPr lang="en-US" dirty="0"/>
              <a:t>        (6 bits)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995E77-8AC6-486D-AF8A-19F1A5BC64F3}"/>
              </a:ext>
            </a:extLst>
          </p:cNvPr>
          <p:cNvSpPr txBox="1"/>
          <p:nvPr/>
        </p:nvSpPr>
        <p:spPr>
          <a:xfrm>
            <a:off x="3283939" y="2124848"/>
            <a:ext cx="120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</a:t>
            </a:r>
            <a:r>
              <a:rPr lang="en-US" dirty="0" err="1"/>
              <a:t>rs</a:t>
            </a:r>
            <a:r>
              <a:rPr lang="en-US" dirty="0"/>
              <a:t> </a:t>
            </a:r>
          </a:p>
          <a:p>
            <a:r>
              <a:rPr lang="en-US" dirty="0"/>
              <a:t>   (5 bits)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8AA060-FC53-49AD-B475-C5ADE0D9E61C}"/>
              </a:ext>
            </a:extLst>
          </p:cNvPr>
          <p:cNvSpPr txBox="1"/>
          <p:nvPr/>
        </p:nvSpPr>
        <p:spPr>
          <a:xfrm>
            <a:off x="4653265" y="2162797"/>
            <a:ext cx="120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rt </a:t>
            </a:r>
          </a:p>
          <a:p>
            <a:r>
              <a:rPr lang="en-US" dirty="0"/>
              <a:t>    (5 bits)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956CBA-E4DC-4E03-8409-FAC00B0001F0}"/>
              </a:ext>
            </a:extLst>
          </p:cNvPr>
          <p:cNvSpPr txBox="1"/>
          <p:nvPr/>
        </p:nvSpPr>
        <p:spPr>
          <a:xfrm>
            <a:off x="6054988" y="2172973"/>
            <a:ext cx="2013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constant or address</a:t>
            </a:r>
          </a:p>
          <a:p>
            <a:r>
              <a:rPr lang="en-US" dirty="0"/>
              <a:t>      (16 bits)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C1CE7F-8FC8-447D-A99A-D75C0BE87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63" y="1099122"/>
            <a:ext cx="5029636" cy="4938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</p:pic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0E602FD9-E19D-4DF2-BE54-FCF588BD01F2}"/>
              </a:ext>
            </a:extLst>
          </p:cNvPr>
          <p:cNvSpPr/>
          <p:nvPr/>
        </p:nvSpPr>
        <p:spPr>
          <a:xfrm>
            <a:off x="122238" y="1622155"/>
            <a:ext cx="1064469" cy="1414660"/>
          </a:xfrm>
          <a:prstGeom prst="wedgeRoundRectCallout">
            <a:avLst>
              <a:gd name="adj1" fmla="val 50612"/>
              <a:gd name="adj2" fmla="val -65113"/>
              <a:gd name="adj3" fmla="val 16667"/>
            </a:avLst>
          </a:prstGeom>
          <a:solidFill>
            <a:srgbClr val="6251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lw</a:t>
            </a:r>
            <a:r>
              <a:rPr lang="en-US" dirty="0"/>
              <a:t> opcode refers to load word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634A99-D81A-4ED2-80C2-5BC0592900A2}"/>
              </a:ext>
            </a:extLst>
          </p:cNvPr>
          <p:cNvSpPr txBox="1"/>
          <p:nvPr/>
        </p:nvSpPr>
        <p:spPr>
          <a:xfrm>
            <a:off x="327171" y="3355596"/>
            <a:ext cx="112244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Explanation: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 that the meaning of the rt field has changed for this instruction.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a load word instruction, the rt field specifies the </a:t>
            </a:r>
            <a:r>
              <a:rPr lang="en-US" i="1" dirty="0"/>
              <a:t>destination register</a:t>
            </a:r>
            <a:r>
              <a:rPr lang="en-US" dirty="0"/>
              <a:t>, which receives the result of the load.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destination register is a register that receives the result of an operation. </a:t>
            </a:r>
          </a:p>
        </p:txBody>
      </p:sp>
    </p:spTree>
    <p:extLst>
      <p:ext uri="{BB962C8B-B14F-4D97-AF65-F5344CB8AC3E}">
        <p14:creationId xmlns:p14="http://schemas.microsoft.com/office/powerpoint/2010/main" val="1288267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EFB9-D1BB-4F72-B3B1-8FC53CBA6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A93D9C-32E0-4890-AF63-75EF0E01E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8247" y="3005847"/>
            <a:ext cx="8959335" cy="188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19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207EE-B713-4AA3-A45E-38CDC561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</a:t>
            </a:r>
            <a:r>
              <a:rPr lang="en-US" dirty="0" err="1"/>
              <a:t>mips</a:t>
            </a:r>
            <a:r>
              <a:rPr lang="en-US" dirty="0"/>
              <a:t>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E4700-CD7F-4FA6-8CDD-5B1D89A9D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below instruction performs </a:t>
            </a:r>
            <a:r>
              <a:rPr lang="en-US" dirty="0">
                <a:highlight>
                  <a:srgbClr val="FFFF00"/>
                </a:highlight>
              </a:rPr>
              <a:t>shift left logical (</a:t>
            </a:r>
            <a:r>
              <a:rPr lang="en-US" dirty="0" err="1">
                <a:highlight>
                  <a:srgbClr val="FFFF00"/>
                </a:highlight>
              </a:rPr>
              <a:t>sll</a:t>
            </a:r>
            <a:r>
              <a:rPr lang="en-US" dirty="0">
                <a:highlight>
                  <a:srgbClr val="FFFF00"/>
                </a:highlight>
              </a:rPr>
              <a:t>)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The above instruction shifts the contents of register $s0 by 4 bits and the result is stored in register $t2.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5F3389-649B-40D1-AD2C-8AA94DCA3DA7}"/>
              </a:ext>
            </a:extLst>
          </p:cNvPr>
          <p:cNvSpPr txBox="1"/>
          <p:nvPr/>
        </p:nvSpPr>
        <p:spPr>
          <a:xfrm>
            <a:off x="2587298" y="3059668"/>
            <a:ext cx="5078098" cy="369332"/>
          </a:xfrm>
          <a:prstGeom prst="rect">
            <a:avLst/>
          </a:prstGeom>
          <a:solidFill>
            <a:srgbClr val="0099FF"/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sll</a:t>
            </a:r>
            <a:r>
              <a:rPr lang="en-US" dirty="0"/>
              <a:t> $t2,$s0,4     # reg $t2 = reg $s0 &lt;&lt; 4 bits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B9EA80-7918-40B4-8B06-16FF18A66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583" y="5007857"/>
            <a:ext cx="5450802" cy="13432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AA910D-605A-4E84-8C8C-CF5B7255DA7E}"/>
              </a:ext>
            </a:extLst>
          </p:cNvPr>
          <p:cNvSpPr txBox="1"/>
          <p:nvPr/>
        </p:nvSpPr>
        <p:spPr>
          <a:xfrm>
            <a:off x="2231136" y="4519923"/>
            <a:ext cx="5450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to show </a:t>
            </a:r>
            <a:r>
              <a:rPr lang="en-US" dirty="0" err="1"/>
              <a:t>sll</a:t>
            </a:r>
            <a:r>
              <a:rPr lang="en-US" dirty="0"/>
              <a:t> (shift left logical) instruction:</a:t>
            </a:r>
          </a:p>
        </p:txBody>
      </p:sp>
    </p:spTree>
    <p:extLst>
      <p:ext uri="{BB962C8B-B14F-4D97-AF65-F5344CB8AC3E}">
        <p14:creationId xmlns:p14="http://schemas.microsoft.com/office/powerpoint/2010/main" val="3140733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88803-FF4F-4325-8F80-70573432A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477" y="943584"/>
            <a:ext cx="9792510" cy="5204298"/>
          </a:xfrm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AND logical operation :</a:t>
            </a:r>
            <a:endParaRPr lang="en-US" dirty="0"/>
          </a:p>
          <a:p>
            <a:r>
              <a:rPr lang="en-US" dirty="0"/>
              <a:t>Bit - by- bit operation that leaves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/>
              <a:t> in the result only if both bits of the operands are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/>
              <a:t>.</a:t>
            </a:r>
          </a:p>
          <a:p>
            <a:r>
              <a:rPr lang="en-US" dirty="0"/>
              <a:t>MIPS instruction to perform logical AND operation could be written as,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 example, </a:t>
            </a:r>
          </a:p>
          <a:p>
            <a:pPr marL="0" indent="0">
              <a:buNone/>
            </a:pPr>
            <a:r>
              <a:rPr lang="en-US" dirty="0"/>
              <a:t>         if register $t2 contains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and if register $t1 contains</a:t>
            </a:r>
          </a:p>
          <a:p>
            <a:endParaRPr lang="en-US" dirty="0"/>
          </a:p>
          <a:p>
            <a:r>
              <a:rPr lang="en-US" dirty="0"/>
              <a:t>After executing the MIPS instruction given above,</a:t>
            </a:r>
          </a:p>
          <a:p>
            <a:pPr marL="0" indent="0">
              <a:buNone/>
            </a:pPr>
            <a:r>
              <a:rPr lang="en-US" dirty="0"/>
              <a:t>                   the value of register $t0 would be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A94C27-A575-4182-8440-842942866017}"/>
              </a:ext>
            </a:extLst>
          </p:cNvPr>
          <p:cNvSpPr txBox="1"/>
          <p:nvPr/>
        </p:nvSpPr>
        <p:spPr>
          <a:xfrm>
            <a:off x="6001963" y="3356963"/>
            <a:ext cx="4630367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0000 0000 0000 0000 0000 1101 1100 0000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0E5B9E-9B39-4431-9E2F-3774094EB0A1}"/>
              </a:ext>
            </a:extLst>
          </p:cNvPr>
          <p:cNvSpPr txBox="1"/>
          <p:nvPr/>
        </p:nvSpPr>
        <p:spPr>
          <a:xfrm>
            <a:off x="6001964" y="4184522"/>
            <a:ext cx="4630367" cy="369332"/>
          </a:xfrm>
          <a:prstGeom prst="rect">
            <a:avLst/>
          </a:prstGeom>
          <a:solidFill>
            <a:srgbClr val="FF66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0000 0000 0000 0000 0011 1100 0000 0000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6F6ADE-47AA-4D82-B9B9-C28E2EE6281D}"/>
              </a:ext>
            </a:extLst>
          </p:cNvPr>
          <p:cNvSpPr txBox="1"/>
          <p:nvPr/>
        </p:nvSpPr>
        <p:spPr>
          <a:xfrm>
            <a:off x="2733469" y="2256303"/>
            <a:ext cx="4630367" cy="369332"/>
          </a:xfrm>
          <a:prstGeom prst="rect">
            <a:avLst/>
          </a:prstGeom>
          <a:solidFill>
            <a:srgbClr val="FFCC66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and $t0,$t1,$t2 # reg $t0 = reg $t1 &amp; reg $t2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E72E48-557F-4FDE-917A-8E933904248E}"/>
              </a:ext>
            </a:extLst>
          </p:cNvPr>
          <p:cNvSpPr txBox="1"/>
          <p:nvPr/>
        </p:nvSpPr>
        <p:spPr>
          <a:xfrm>
            <a:off x="6001965" y="5381413"/>
            <a:ext cx="4630367" cy="369332"/>
          </a:xfrm>
          <a:prstGeom prst="rect">
            <a:avLst/>
          </a:prstGeom>
          <a:solidFill>
            <a:srgbClr val="66FFCC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0000 0000 0000 0000 0000 1100 0000 0000</a:t>
            </a:r>
          </a:p>
        </p:txBody>
      </p:sp>
    </p:spTree>
    <p:extLst>
      <p:ext uri="{BB962C8B-B14F-4D97-AF65-F5344CB8AC3E}">
        <p14:creationId xmlns:p14="http://schemas.microsoft.com/office/powerpoint/2010/main" val="3412666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B913E-3552-4E80-B541-EC455C762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957" y="875490"/>
            <a:ext cx="9834664" cy="48645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Logical OR operation:</a:t>
            </a:r>
          </a:p>
          <a:p>
            <a:r>
              <a:rPr lang="en-US" dirty="0"/>
              <a:t>It is a bit-by-bit operation that places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/>
              <a:t> in the result if </a:t>
            </a:r>
            <a:r>
              <a:rPr lang="en-US" i="1" dirty="0"/>
              <a:t>either </a:t>
            </a:r>
            <a:r>
              <a:rPr lang="en-US" dirty="0"/>
              <a:t>operand bit is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/>
              <a:t>.</a:t>
            </a:r>
          </a:p>
          <a:p>
            <a:r>
              <a:rPr lang="en-US" dirty="0"/>
              <a:t>The MIPS instruction format to show OR logical operation is given as,</a:t>
            </a:r>
          </a:p>
          <a:p>
            <a:pPr marL="0" indent="0">
              <a:buNone/>
            </a:pPr>
            <a:r>
              <a:rPr lang="en-US" dirty="0"/>
              <a:t>            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4526B2-7F14-412F-B930-07B9D3002725}"/>
              </a:ext>
            </a:extLst>
          </p:cNvPr>
          <p:cNvSpPr txBox="1"/>
          <p:nvPr/>
        </p:nvSpPr>
        <p:spPr>
          <a:xfrm>
            <a:off x="3818105" y="2193587"/>
            <a:ext cx="4630367" cy="369332"/>
          </a:xfrm>
          <a:prstGeom prst="rect">
            <a:avLst/>
          </a:prstGeom>
          <a:solidFill>
            <a:srgbClr val="89D5DD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or $t0,$t1,$t2 # reg $t0 = reg $t1 | reg $t2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1A0250-95B4-4BA5-B421-D8E4ADE6C32B}"/>
              </a:ext>
            </a:extLst>
          </p:cNvPr>
          <p:cNvSpPr/>
          <p:nvPr/>
        </p:nvSpPr>
        <p:spPr>
          <a:xfrm>
            <a:off x="1141379" y="3066606"/>
            <a:ext cx="103347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  <a:latin typeface="+mj-lt"/>
              </a:rPr>
              <a:t>Logical NOT operation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This operation NOT 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takes one operand and places a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 in the result if one operand bit is a 0, and vice versa.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The designers of MIPS decided to include the instruction </a:t>
            </a:r>
            <a:r>
              <a:rPr lang="en-US" b="1" dirty="0">
                <a:latin typeface="+mj-lt"/>
              </a:rPr>
              <a:t>NOR</a:t>
            </a:r>
            <a:r>
              <a:rPr lang="en-US" b="1" dirty="0">
                <a:solidFill>
                  <a:srgbClr val="00FFFF"/>
                </a:solidFill>
                <a:latin typeface="+mj-lt"/>
              </a:rPr>
              <a:t> 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(NOT OR) instead of NOT.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MIPS instruction format for the NOR logical operation is given as,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04EEE-AA70-47E8-857C-A95CD36D7A52}"/>
              </a:ext>
            </a:extLst>
          </p:cNvPr>
          <p:cNvSpPr txBox="1"/>
          <p:nvPr/>
        </p:nvSpPr>
        <p:spPr>
          <a:xfrm>
            <a:off x="3614634" y="4955287"/>
            <a:ext cx="5037308" cy="369332"/>
          </a:xfrm>
          <a:prstGeom prst="rect">
            <a:avLst/>
          </a:prstGeom>
          <a:solidFill>
            <a:srgbClr val="FF66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nor $t0,$t1,$t3 # reg $t0 = ~ (reg $t1 | reg $t3)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01066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3F0A-053D-4D72-B30F-BC0AE79F1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596" y="155644"/>
            <a:ext cx="10398868" cy="398834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Instructions for making decisions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92B51A-BBBB-47AA-BD8A-6179767F4E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1558" y="1040862"/>
            <a:ext cx="11799652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i="1" dirty="0">
                <a:solidFill>
                  <a:schemeClr val="tx1"/>
                </a:solidFill>
                <a:highlight>
                  <a:srgbClr val="FFFF00"/>
                </a:highlight>
              </a:rPr>
              <a:t>Conditional branches: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i="1" dirty="0">
                <a:solidFill>
                  <a:schemeClr val="tx1"/>
                </a:solidFill>
                <a:highlight>
                  <a:srgbClr val="FFFF00"/>
                </a:highlight>
              </a:rPr>
              <a:t>   </a:t>
            </a:r>
            <a:r>
              <a:rPr lang="en-US" altLang="en-US" i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i="1" dirty="0">
                <a:solidFill>
                  <a:schemeClr val="tx1"/>
                </a:solidFill>
                <a:highlight>
                  <a:srgbClr val="FFFF00"/>
                </a:highlight>
              </a:rPr>
              <a:t>  Branch if equal: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instruction is written as,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- This instruction means go to the statement labeled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the value in register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equals the value in register2. </a:t>
            </a:r>
            <a:endParaRPr lang="en-US" altLang="en-US" sz="10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000" dirty="0">
                <a:solidFill>
                  <a:schemeClr val="tx1"/>
                </a:solidFill>
              </a:rPr>
              <a:t>     </a:t>
            </a:r>
            <a:r>
              <a:rPr lang="en-US" altLang="en-US" sz="2000" dirty="0">
                <a:solidFill>
                  <a:schemeClr val="tx1"/>
                </a:solidFill>
              </a:rPr>
              <a:t>2. </a:t>
            </a:r>
            <a:r>
              <a:rPr lang="en-US" altLang="en-US" sz="2000" i="1" dirty="0">
                <a:solidFill>
                  <a:schemeClr val="tx1"/>
                </a:solidFill>
                <a:highlight>
                  <a:srgbClr val="FFFF00"/>
                </a:highlight>
              </a:rPr>
              <a:t>Branch if not equal: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- This instruction is written as,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- </a:t>
            </a:r>
            <a:r>
              <a:rPr lang="en-US" altLang="en-US" dirty="0">
                <a:solidFill>
                  <a:schemeClr val="tx1"/>
                </a:solidFill>
              </a:rPr>
              <a:t>This instruction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means go to the statement labeled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the value in register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does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equal the value in register2.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FFD623-555C-4ED4-A819-9F5CF0EFBC01}"/>
              </a:ext>
            </a:extLst>
          </p:cNvPr>
          <p:cNvSpPr txBox="1"/>
          <p:nvPr/>
        </p:nvSpPr>
        <p:spPr>
          <a:xfrm>
            <a:off x="3686784" y="1599078"/>
            <a:ext cx="3035030" cy="491581"/>
          </a:xfrm>
          <a:prstGeom prst="rect">
            <a:avLst/>
          </a:prstGeom>
          <a:solidFill>
            <a:srgbClr val="89D5DD"/>
          </a:solidFill>
        </p:spPr>
        <p:txBody>
          <a:bodyPr wrap="square" rtlCol="0">
            <a:spAutoFit/>
          </a:bodyPr>
          <a:lstStyle/>
          <a:p>
            <a:r>
              <a:rPr lang="en-US" altLang="en-US" dirty="0" err="1"/>
              <a:t>beq</a:t>
            </a:r>
            <a:r>
              <a:rPr lang="en-US" altLang="en-US" dirty="0"/>
              <a:t> register1, register2, 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/>
              <a:t> </a:t>
            </a:r>
            <a:endParaRPr lang="en-US" dirty="0"/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5ED2670D-FD6F-48B7-86F1-94EEAF46EE7D}"/>
              </a:ext>
            </a:extLst>
          </p:cNvPr>
          <p:cNvSpPr/>
          <p:nvPr/>
        </p:nvSpPr>
        <p:spPr>
          <a:xfrm>
            <a:off x="4017523" y="793647"/>
            <a:ext cx="4299625" cy="518672"/>
          </a:xfrm>
          <a:prstGeom prst="wedgeRectCallout">
            <a:avLst>
              <a:gd name="adj1" fmla="val -52212"/>
              <a:gd name="adj2" fmla="val 1056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i="1" dirty="0" err="1">
                <a:solidFill>
                  <a:schemeClr val="tx1"/>
                </a:solidFill>
              </a:rPr>
              <a:t>beq</a:t>
            </a:r>
            <a:r>
              <a:rPr lang="en-US" altLang="en-US" i="1" dirty="0">
                <a:solidFill>
                  <a:schemeClr val="tx1"/>
                </a:solidFill>
              </a:rPr>
              <a:t> stands for branch if equal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D94E96-3CE4-438D-8FD3-332F73BA1B0E}"/>
              </a:ext>
            </a:extLst>
          </p:cNvPr>
          <p:cNvSpPr txBox="1"/>
          <p:nvPr/>
        </p:nvSpPr>
        <p:spPr>
          <a:xfrm>
            <a:off x="3686784" y="4615246"/>
            <a:ext cx="3035030" cy="369332"/>
          </a:xfrm>
          <a:prstGeom prst="rect">
            <a:avLst/>
          </a:prstGeom>
          <a:solidFill>
            <a:srgbClr val="89D5DD"/>
          </a:solidFill>
        </p:spPr>
        <p:txBody>
          <a:bodyPr wrap="square" rtlCol="0">
            <a:spAutoFit/>
          </a:bodyPr>
          <a:lstStyle/>
          <a:p>
            <a:r>
              <a:rPr lang="en-US" altLang="en-US" dirty="0" err="1"/>
              <a:t>bne</a:t>
            </a:r>
            <a:r>
              <a:rPr lang="en-US" altLang="en-US" dirty="0"/>
              <a:t> register1, register2, 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3AD581A1-20C3-4872-A781-5FFF6233CDCA}"/>
              </a:ext>
            </a:extLst>
          </p:cNvPr>
          <p:cNvSpPr/>
          <p:nvPr/>
        </p:nvSpPr>
        <p:spPr>
          <a:xfrm>
            <a:off x="4017523" y="4062121"/>
            <a:ext cx="4688731" cy="313956"/>
          </a:xfrm>
          <a:prstGeom prst="wedgeRectCallout">
            <a:avLst>
              <a:gd name="adj1" fmla="val -51797"/>
              <a:gd name="adj2" fmla="val 1490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i="1" dirty="0" err="1">
                <a:solidFill>
                  <a:schemeClr val="tx1"/>
                </a:solidFill>
              </a:rPr>
              <a:t>bne</a:t>
            </a:r>
            <a:r>
              <a:rPr lang="en-US" altLang="en-US" i="1" dirty="0">
                <a:solidFill>
                  <a:schemeClr val="tx1"/>
                </a:solidFill>
              </a:rPr>
              <a:t> stands for branch if not equal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45E9DD-33E4-48EF-8392-6D10895ACF36}"/>
              </a:ext>
            </a:extLst>
          </p:cNvPr>
          <p:cNvSpPr txBox="1"/>
          <p:nvPr/>
        </p:nvSpPr>
        <p:spPr>
          <a:xfrm>
            <a:off x="690664" y="2795879"/>
            <a:ext cx="11199778" cy="646331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Conditional branch:  </a:t>
            </a:r>
            <a:r>
              <a:rPr lang="en-US" dirty="0"/>
              <a:t>An instruction that requires the comparison of two values and that allows for a subsequent transfer of control to a new address in the program based on the outcome of the comparison.</a:t>
            </a:r>
          </a:p>
        </p:txBody>
      </p:sp>
    </p:spTree>
    <p:extLst>
      <p:ext uri="{BB962C8B-B14F-4D97-AF65-F5344CB8AC3E}">
        <p14:creationId xmlns:p14="http://schemas.microsoft.com/office/powerpoint/2010/main" val="2291944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2E5CC-967C-4524-A1C0-C50017104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417" y="187583"/>
            <a:ext cx="11675165" cy="753321"/>
          </a:xfrm>
        </p:spPr>
        <p:txBody>
          <a:bodyPr/>
          <a:lstStyle/>
          <a:p>
            <a:r>
              <a:rPr lang="en-US" dirty="0"/>
              <a:t>Instructions to make comparisons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17BBBE-B708-4428-AC98-CA863A3BCC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5887" y="1645936"/>
            <a:ext cx="2351538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Comparisons between register values is accomplished in MIPS assembly language by the following instruction,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above instruction compares two registers namely, s3 and s4. A third register t0 is set to 1 if s3 &lt; s4.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otherwise, t0is set to 0.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Constant operands are popular in comparisons, so there is an immediate version of the set on less than instruction.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To test if register $s2 is less than the constant 10, we can just write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1BAAC6-C451-4B51-BBE7-30A69471262C}"/>
              </a:ext>
            </a:extLst>
          </p:cNvPr>
          <p:cNvSpPr txBox="1"/>
          <p:nvPr/>
        </p:nvSpPr>
        <p:spPr>
          <a:xfrm>
            <a:off x="2716696" y="2173357"/>
            <a:ext cx="5618922" cy="369332"/>
          </a:xfrm>
          <a:prstGeom prst="rect">
            <a:avLst/>
          </a:prstGeom>
          <a:solidFill>
            <a:srgbClr val="66FFCC"/>
          </a:solidFill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slt</a:t>
            </a:r>
            <a:r>
              <a:rPr lang="en-US" altLang="en-US" dirty="0">
                <a:latin typeface="Arial" panose="020B0604020202020204" pitchFamily="34" charset="0"/>
              </a:rPr>
              <a:t>  $t0, $s3, $s4   # $t0 = 1 if $s3 &lt; $s4</a:t>
            </a:r>
            <a:endParaRPr lang="en-US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355260D7-EACF-45C2-B611-006D51179DDD}"/>
              </a:ext>
            </a:extLst>
          </p:cNvPr>
          <p:cNvSpPr/>
          <p:nvPr/>
        </p:nvSpPr>
        <p:spPr>
          <a:xfrm>
            <a:off x="175887" y="2635454"/>
            <a:ext cx="2832355" cy="369332"/>
          </a:xfrm>
          <a:prstGeom prst="wedgeRectCallout">
            <a:avLst>
              <a:gd name="adj1" fmla="val 45082"/>
              <a:gd name="adj2" fmla="val -95379"/>
            </a:avLst>
          </a:prstGeom>
          <a:solidFill>
            <a:srgbClr val="89D5D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slt</a:t>
            </a:r>
            <a:r>
              <a:rPr lang="en-US" dirty="0"/>
              <a:t> stands for set less than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AC923-6808-4722-B2F6-1F732CD3256B}"/>
              </a:ext>
            </a:extLst>
          </p:cNvPr>
          <p:cNvSpPr txBox="1"/>
          <p:nvPr/>
        </p:nvSpPr>
        <p:spPr>
          <a:xfrm>
            <a:off x="4525618" y="5939419"/>
            <a:ext cx="5618922" cy="369332"/>
          </a:xfrm>
          <a:prstGeom prst="rect">
            <a:avLst/>
          </a:prstGeom>
          <a:solidFill>
            <a:srgbClr val="66FFCC"/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latin typeface="Arial" panose="020B0604020202020204" pitchFamily="34" charset="0"/>
              </a:rPr>
              <a:t>slti</a:t>
            </a:r>
            <a:r>
              <a:rPr lang="en-US" altLang="en-US" dirty="0">
                <a:latin typeface="Arial" panose="020B0604020202020204" pitchFamily="34" charset="0"/>
              </a:rPr>
              <a:t> $t0, $s2, 10    # $t0 = 1 if $s2 &lt; 10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F1891A67-4685-4DC6-9432-FC5DE6AB45C3}"/>
              </a:ext>
            </a:extLst>
          </p:cNvPr>
          <p:cNvSpPr/>
          <p:nvPr/>
        </p:nvSpPr>
        <p:spPr>
          <a:xfrm>
            <a:off x="175887" y="6355560"/>
            <a:ext cx="4757530" cy="369332"/>
          </a:xfrm>
          <a:prstGeom prst="wedgeRectCallout">
            <a:avLst>
              <a:gd name="adj1" fmla="val 41740"/>
              <a:gd name="adj2" fmla="val -91791"/>
            </a:avLst>
          </a:prstGeom>
          <a:solidFill>
            <a:srgbClr val="89D5D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slti</a:t>
            </a:r>
            <a:r>
              <a:rPr lang="en-US" dirty="0"/>
              <a:t> stands for set less than immediate</a:t>
            </a:r>
          </a:p>
        </p:txBody>
      </p:sp>
    </p:spTree>
    <p:extLst>
      <p:ext uri="{BB962C8B-B14F-4D97-AF65-F5344CB8AC3E}">
        <p14:creationId xmlns:p14="http://schemas.microsoft.com/office/powerpoint/2010/main" val="1560684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44DC-C583-4EF5-9941-BED1693A5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64592"/>
            <a:ext cx="10833100" cy="1188720"/>
          </a:xfrm>
        </p:spPr>
        <p:txBody>
          <a:bodyPr/>
          <a:lstStyle/>
          <a:p>
            <a:r>
              <a:rPr lang="en-US" dirty="0"/>
              <a:t>Supporting procedures in computer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C7815-71E2-4B7C-99A9-0D058849C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00" y="1549400"/>
            <a:ext cx="11569700" cy="5144008"/>
          </a:xfrm>
        </p:spPr>
        <p:txBody>
          <a:bodyPr>
            <a:normAutofit/>
          </a:bodyPr>
          <a:lstStyle/>
          <a:p>
            <a:r>
              <a:rPr lang="en-US" dirty="0"/>
              <a:t>Procedure:  A stored subroutine that performs a specific task based on the parameters with which it is provided. </a:t>
            </a:r>
          </a:p>
          <a:p>
            <a:r>
              <a:rPr lang="en-US" dirty="0"/>
              <a:t>Jump-and-link instruction:  An instruction that jumps to an address and simultaneously saves the address of the following instruction in a register ($ra in MIPS). </a:t>
            </a:r>
          </a:p>
          <a:p>
            <a:r>
              <a:rPr lang="en-US" dirty="0"/>
              <a:t>Return address:  A link to the calling site that allows a procedure to return to the proper address; in MIPS it is stored in register $ra. </a:t>
            </a:r>
          </a:p>
          <a:p>
            <a:r>
              <a:rPr lang="en-US" dirty="0"/>
              <a:t>Jump register instruction (</a:t>
            </a:r>
            <a:r>
              <a:rPr lang="en-US" dirty="0" err="1"/>
              <a:t>jr</a:t>
            </a:r>
            <a:r>
              <a:rPr lang="en-US" dirty="0"/>
              <a:t>) :  This instruction makes an unconditional jump to the address specified in a register.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jump register instruction jumps to the address stored in register $ra. </a:t>
            </a:r>
          </a:p>
          <a:p>
            <a:r>
              <a:rPr lang="en-US" dirty="0"/>
              <a:t>Program counter (PC): The register containing the address of the instruction in the program being executed. </a:t>
            </a:r>
          </a:p>
          <a:p>
            <a:r>
              <a:rPr lang="en-US" dirty="0"/>
              <a:t>The </a:t>
            </a:r>
            <a:r>
              <a:rPr lang="en-US" dirty="0" err="1">
                <a:highlight>
                  <a:srgbClr val="FFFF00"/>
                </a:highlight>
              </a:rPr>
              <a:t>jal</a:t>
            </a:r>
            <a:r>
              <a:rPr lang="en-US" dirty="0">
                <a:highlight>
                  <a:srgbClr val="FFFF00"/>
                </a:highlight>
              </a:rPr>
              <a:t> instruction </a:t>
            </a:r>
            <a:r>
              <a:rPr lang="en-US" dirty="0"/>
              <a:t>actually saves PC + 4 in register $ra to link to the following instruction to set up the procedure return.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EBE07-BB43-4E17-ADD9-8DAFB08B73C5}"/>
              </a:ext>
            </a:extLst>
          </p:cNvPr>
          <p:cNvSpPr txBox="1"/>
          <p:nvPr/>
        </p:nvSpPr>
        <p:spPr>
          <a:xfrm>
            <a:off x="3708400" y="3644713"/>
            <a:ext cx="99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jr</a:t>
            </a:r>
            <a:r>
              <a:rPr lang="en-US" dirty="0"/>
              <a:t> $ra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1935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1D40A-B023-4A1C-8B04-E0E04238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27000"/>
            <a:ext cx="11696700" cy="493785"/>
          </a:xfrm>
        </p:spPr>
        <p:txBody>
          <a:bodyPr>
            <a:normAutofit fontScale="90000"/>
          </a:bodyPr>
          <a:lstStyle/>
          <a:p>
            <a:r>
              <a:rPr lang="en-US" dirty="0"/>
              <a:t>MIPS addressing for 32-bit </a:t>
            </a:r>
            <a:r>
              <a:rPr lang="en-US" dirty="0" err="1"/>
              <a:t>immediates</a:t>
            </a:r>
            <a:r>
              <a:rPr lang="en-US" dirty="0"/>
              <a:t> and addresses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D24DB-9304-4745-A86B-F01B67351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98698"/>
            <a:ext cx="11836400" cy="494133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load upper immediate (</a:t>
            </a:r>
            <a:r>
              <a:rPr lang="en-US" dirty="0" err="1"/>
              <a:t>lui</a:t>
            </a:r>
            <a:r>
              <a:rPr lang="en-US" dirty="0"/>
              <a:t>) :</a:t>
            </a:r>
          </a:p>
          <a:p>
            <a:r>
              <a:rPr lang="en-US" dirty="0"/>
              <a:t>This instruction sets the upper 16 bits of a constant in a register, allowing a subsequent instruction to specify the lower 16 bits of the constant.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07722-F1F0-440B-822B-2615EDD51DC8}"/>
              </a:ext>
            </a:extLst>
          </p:cNvPr>
          <p:cNvSpPr txBox="1"/>
          <p:nvPr/>
        </p:nvSpPr>
        <p:spPr>
          <a:xfrm>
            <a:off x="2628972" y="1715144"/>
            <a:ext cx="3505200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lui $t0, 255  # $t0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register</a:t>
            </a:r>
            <a:r>
              <a:rPr lang="fr-FR" dirty="0"/>
              <a:t> 8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AFB661-79E4-43D4-A3DD-2FCB0789FF54}"/>
              </a:ext>
            </a:extLst>
          </p:cNvPr>
          <p:cNvSpPr txBox="1"/>
          <p:nvPr/>
        </p:nvSpPr>
        <p:spPr>
          <a:xfrm>
            <a:off x="177800" y="3456887"/>
            <a:ext cx="118364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latin typeface="ITCFranklinGothicStd-Hvy"/>
              </a:rPr>
              <a:t>Loading a 32-Bit Constant 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MinionPro-Regular"/>
              </a:rPr>
              <a:t>What is the MIPS assembly code to load this 32-bit constant into register </a:t>
            </a:r>
            <a:r>
              <a:rPr lang="en-US" sz="1800" b="0" i="0" u="none" strike="noStrike" baseline="0" dirty="0">
                <a:latin typeface="LetterGothicStd"/>
              </a:rPr>
              <a:t>$s0</a:t>
            </a:r>
            <a:r>
              <a:rPr lang="en-US" sz="1800" b="0" i="0" u="none" strike="noStrike" baseline="0" dirty="0">
                <a:latin typeface="MinionPro-Regular"/>
              </a:rPr>
              <a:t>?</a:t>
            </a:r>
          </a:p>
          <a:p>
            <a:pPr algn="l"/>
            <a:r>
              <a:rPr lang="en-US" sz="1600" b="0" i="0" u="none" strike="noStrike" baseline="0" dirty="0">
                <a:latin typeface="LetterGothicStd"/>
              </a:rPr>
              <a:t>                0000 0000 0011 1101 0000 1001 0000 0000 </a:t>
            </a:r>
          </a:p>
          <a:p>
            <a:pPr algn="l"/>
            <a:endParaRPr lang="en-US" sz="1600" b="0" i="0" u="none" strike="noStrike" baseline="0" dirty="0">
              <a:latin typeface="LetterGothicStd"/>
            </a:endParaRP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      - First, we would load the upper 16 bits, which is 61 in decimal, using </a:t>
            </a:r>
            <a:r>
              <a:rPr lang="en-US" sz="1800" b="0" i="0" u="none" strike="noStrike" baseline="0" dirty="0" err="1">
                <a:latin typeface="LetterGothicStd"/>
              </a:rPr>
              <a:t>lui</a:t>
            </a:r>
            <a:r>
              <a:rPr lang="en-US" sz="1800" b="0" i="0" u="none" strike="noStrike" baseline="0" dirty="0">
                <a:latin typeface="MinionPro-Regular"/>
              </a:rPr>
              <a:t>:</a:t>
            </a:r>
          </a:p>
          <a:p>
            <a:pPr algn="l"/>
            <a:r>
              <a:rPr lang="en-US" sz="1600" b="0" i="0" u="none" strike="noStrike" baseline="0" dirty="0">
                <a:latin typeface="LetterGothicStd"/>
              </a:rPr>
              <a:t>              </a:t>
            </a:r>
            <a:r>
              <a:rPr lang="en-US" sz="1600" b="0" i="0" u="none" strike="noStrike" baseline="0" dirty="0" err="1">
                <a:latin typeface="LetterGothicStd"/>
              </a:rPr>
              <a:t>lui</a:t>
            </a:r>
            <a:r>
              <a:rPr lang="en-US" sz="1600" b="0" i="0" u="none" strike="noStrike" baseline="0" dirty="0">
                <a:latin typeface="LetterGothicStd"/>
              </a:rPr>
              <a:t> $s0, 61    # 61 decimal = 0000 0000 0011 1101 binary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     - The value of register </a:t>
            </a:r>
            <a:r>
              <a:rPr lang="en-US" sz="1800" b="0" i="0" u="none" strike="noStrike" baseline="0" dirty="0">
                <a:latin typeface="LetterGothicStd"/>
              </a:rPr>
              <a:t>$s0 </a:t>
            </a:r>
            <a:r>
              <a:rPr lang="en-US" sz="1800" b="0" i="0" u="none" strike="noStrike" baseline="0" dirty="0">
                <a:latin typeface="MinionPro-Regular"/>
              </a:rPr>
              <a:t>afterward is</a:t>
            </a:r>
          </a:p>
          <a:p>
            <a:pPr algn="l"/>
            <a:r>
              <a:rPr lang="en-US" sz="1600" b="0" i="0" u="none" strike="noStrike" baseline="0" dirty="0">
                <a:latin typeface="LetterGothicStd"/>
              </a:rPr>
              <a:t>             0000 0000 0011 1101 0000 0000 0000 0000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     - The next step is to insert the lower 16 bits, whose decimal value is 2304:</a:t>
            </a:r>
          </a:p>
          <a:p>
            <a:pPr algn="l"/>
            <a:r>
              <a:rPr lang="pt-BR" sz="1600" b="0" i="0" u="none" strike="noStrike" baseline="0" dirty="0">
                <a:latin typeface="LetterGothicStd"/>
              </a:rPr>
              <a:t>             ori $s0, $s0, 2304 # 2304 decimal = 0000 1001 0000 0000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     - The final value in register </a:t>
            </a:r>
            <a:r>
              <a:rPr lang="en-US" sz="1800" b="0" i="0" u="none" strike="noStrike" baseline="0" dirty="0">
                <a:latin typeface="LetterGothicStd"/>
              </a:rPr>
              <a:t>$s0 </a:t>
            </a:r>
            <a:r>
              <a:rPr lang="en-US" sz="1800" b="0" i="0" u="none" strike="noStrike" baseline="0" dirty="0">
                <a:latin typeface="MinionPro-Regular"/>
              </a:rPr>
              <a:t>is the desired value:</a:t>
            </a:r>
          </a:p>
          <a:p>
            <a:pPr algn="l"/>
            <a:r>
              <a:rPr lang="en-US" sz="1600" b="0" i="0" u="none" strike="noStrike" baseline="0" dirty="0">
                <a:latin typeface="LetterGothicStd"/>
              </a:rPr>
              <a:t>             0000 0000 0011 1101 0000 1001 0000 0000</a:t>
            </a:r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6F1AE905-A93E-4D24-9A2A-6E73EE5BF747}"/>
              </a:ext>
            </a:extLst>
          </p:cNvPr>
          <p:cNvGraphicFramePr>
            <a:graphicFrameLocks noGrp="1"/>
          </p:cNvGraphicFramePr>
          <p:nvPr/>
        </p:nvGraphicFramePr>
        <p:xfrm>
          <a:off x="1262032" y="2754594"/>
          <a:ext cx="1075216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946">
                  <a:extLst>
                    <a:ext uri="{9D8B030D-6E8A-4147-A177-3AD203B41FA5}">
                      <a16:colId xmlns:a16="http://schemas.microsoft.com/office/drawing/2014/main" val="2368937426"/>
                    </a:ext>
                  </a:extLst>
                </a:gridCol>
                <a:gridCol w="2063692">
                  <a:extLst>
                    <a:ext uri="{9D8B030D-6E8A-4147-A177-3AD203B41FA5}">
                      <a16:colId xmlns:a16="http://schemas.microsoft.com/office/drawing/2014/main" val="3706947970"/>
                    </a:ext>
                  </a:extLst>
                </a:gridCol>
                <a:gridCol w="2332139">
                  <a:extLst>
                    <a:ext uri="{9D8B030D-6E8A-4147-A177-3AD203B41FA5}">
                      <a16:colId xmlns:a16="http://schemas.microsoft.com/office/drawing/2014/main" val="3851727342"/>
                    </a:ext>
                  </a:extLst>
                </a:gridCol>
                <a:gridCol w="4858391">
                  <a:extLst>
                    <a:ext uri="{9D8B030D-6E8A-4147-A177-3AD203B41FA5}">
                      <a16:colId xmlns:a16="http://schemas.microsoft.com/office/drawing/2014/main" val="3723168880"/>
                    </a:ext>
                  </a:extLst>
                </a:gridCol>
              </a:tblGrid>
              <a:tr h="2538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opcode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rs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rt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Immediate or constant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74712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2D35CE8-2BDE-426B-97DC-C3D0BEBDB8A6}"/>
              </a:ext>
            </a:extLst>
          </p:cNvPr>
          <p:cNvSpPr txBox="1"/>
          <p:nvPr/>
        </p:nvSpPr>
        <p:spPr>
          <a:xfrm>
            <a:off x="1634696" y="3091127"/>
            <a:ext cx="93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 bits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779C36-99AE-4BD3-8C9B-43C5E7027DC6}"/>
              </a:ext>
            </a:extLst>
          </p:cNvPr>
          <p:cNvSpPr txBox="1"/>
          <p:nvPr/>
        </p:nvSpPr>
        <p:spPr>
          <a:xfrm>
            <a:off x="3441962" y="3103092"/>
            <a:ext cx="93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bits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70F9B1-2BD7-4822-BAF9-24D547BE807A}"/>
              </a:ext>
            </a:extLst>
          </p:cNvPr>
          <p:cNvSpPr txBox="1"/>
          <p:nvPr/>
        </p:nvSpPr>
        <p:spPr>
          <a:xfrm>
            <a:off x="5741682" y="3125473"/>
            <a:ext cx="93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bits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E78857-A98E-4E0F-B933-BB61E1DC51D5}"/>
              </a:ext>
            </a:extLst>
          </p:cNvPr>
          <p:cNvSpPr txBox="1"/>
          <p:nvPr/>
        </p:nvSpPr>
        <p:spPr>
          <a:xfrm>
            <a:off x="9074587" y="3059668"/>
            <a:ext cx="93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 bits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AB90A3-8D86-4D39-A44F-55399AA93901}"/>
              </a:ext>
            </a:extLst>
          </p:cNvPr>
          <p:cNvSpPr txBox="1"/>
          <p:nvPr/>
        </p:nvSpPr>
        <p:spPr>
          <a:xfrm>
            <a:off x="177800" y="2229823"/>
            <a:ext cx="10242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lui</a:t>
            </a:r>
            <a:r>
              <a:rPr lang="en-US" dirty="0"/>
              <a:t> is an instruction of I-type format. The instruction format of </a:t>
            </a:r>
            <a:r>
              <a:rPr lang="en-US" dirty="0" err="1"/>
              <a:t>lui</a:t>
            </a:r>
            <a:r>
              <a:rPr lang="en-US" dirty="0"/>
              <a:t> is given below.</a:t>
            </a:r>
          </a:p>
        </p:txBody>
      </p:sp>
    </p:spTree>
    <p:extLst>
      <p:ext uri="{BB962C8B-B14F-4D97-AF65-F5344CB8AC3E}">
        <p14:creationId xmlns:p14="http://schemas.microsoft.com/office/powerpoint/2010/main" val="16176778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AB8CC-619F-4025-9E00-A7F797601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750" y="127583"/>
            <a:ext cx="8678164" cy="5092327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Addressing mode: </a:t>
            </a:r>
            <a:r>
              <a:rPr lang="en-US" dirty="0"/>
              <a:t>One of several addressing regimes delimited by their varied use of operands and/or addresses.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MIPS addressing mode summary : </a:t>
            </a:r>
          </a:p>
          <a:p>
            <a:r>
              <a:rPr lang="en-US" dirty="0"/>
              <a:t>Multiple forms of addressing are generically called addressing modes. The figure below shows how operands are identified for each addressing mode. </a:t>
            </a:r>
          </a:p>
          <a:p>
            <a:r>
              <a:rPr lang="en-US" dirty="0"/>
              <a:t>The MIPS addressing modes are the following:</a:t>
            </a:r>
          </a:p>
          <a:p>
            <a:pPr marL="0" indent="0">
              <a:buNone/>
            </a:pPr>
            <a:r>
              <a:rPr lang="en-US" dirty="0"/>
              <a:t>      - Immediate addressing: The operand is a constant within the instruction itself</a:t>
            </a:r>
          </a:p>
          <a:p>
            <a:pPr marL="0" indent="0">
              <a:buNone/>
            </a:pPr>
            <a:r>
              <a:rPr lang="en-US" dirty="0"/>
              <a:t>      - Register addressing: The operand is a register</a:t>
            </a:r>
          </a:p>
          <a:p>
            <a:pPr marL="0" indent="0">
              <a:buNone/>
            </a:pPr>
            <a:r>
              <a:rPr lang="en-US" dirty="0"/>
              <a:t>      - Base addressing / displacement addressing: The operand is at the memory location whose address is the sum of a register and a constant in the instruction</a:t>
            </a:r>
          </a:p>
          <a:p>
            <a:pPr marL="0" indent="0">
              <a:buNone/>
            </a:pPr>
            <a:r>
              <a:rPr lang="en-US" dirty="0"/>
              <a:t>     - PC-relative addressing:  The branch address is the sum of the PC and a constant in the instruction</a:t>
            </a:r>
          </a:p>
          <a:p>
            <a:pPr marL="0" indent="0">
              <a:buNone/>
            </a:pPr>
            <a:r>
              <a:rPr lang="en-US" dirty="0"/>
              <a:t>     - Pseudo-direct addressing: The jump address is the 26 bits of the instruction concatenated with the upper bits of the PC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A91F0-56C9-45A1-80B4-8AC62FE3C7A1}"/>
              </a:ext>
            </a:extLst>
          </p:cNvPr>
          <p:cNvSpPr txBox="1"/>
          <p:nvPr/>
        </p:nvSpPr>
        <p:spPr>
          <a:xfrm>
            <a:off x="2146300" y="6134100"/>
            <a:ext cx="7213600" cy="369332"/>
          </a:xfrm>
          <a:prstGeom prst="rect">
            <a:avLst/>
          </a:prstGeom>
          <a:solidFill>
            <a:srgbClr val="FFCC66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Refer 2.10.1 in </a:t>
            </a:r>
            <a:r>
              <a:rPr lang="en-US" dirty="0" err="1"/>
              <a:t>zybooks</a:t>
            </a:r>
            <a:r>
              <a:rPr lang="en-US" dirty="0"/>
              <a:t> for the explanation about these addressing modes</a:t>
            </a:r>
          </a:p>
        </p:txBody>
      </p:sp>
    </p:spTree>
    <p:extLst>
      <p:ext uri="{BB962C8B-B14F-4D97-AF65-F5344CB8AC3E}">
        <p14:creationId xmlns:p14="http://schemas.microsoft.com/office/powerpoint/2010/main" val="3209894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F2493-F8B1-CF49-82F7-21ACC150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466" y="169504"/>
            <a:ext cx="7729728" cy="685940"/>
          </a:xfrm>
        </p:spPr>
        <p:txBody>
          <a:bodyPr>
            <a:normAutofit fontScale="90000"/>
          </a:bodyPr>
          <a:lstStyle/>
          <a:p>
            <a:r>
              <a:rPr lang="en-US" dirty="0"/>
              <a:t>Decoding Machine Language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AC76DF-CB0F-2F4A-A457-1E2184186C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2650" y="1543403"/>
                <a:ext cx="78867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Sometimes you are forced to </a:t>
                </a:r>
                <a:r>
                  <a:rPr lang="en-US" dirty="0">
                    <a:solidFill>
                      <a:srgbClr val="0070C0"/>
                    </a:solidFill>
                  </a:rPr>
                  <a:t>reverse-engineer</a:t>
                </a:r>
                <a:r>
                  <a:rPr lang="en-US" dirty="0"/>
                  <a:t> machine language to create the original assembly language. </a:t>
                </a:r>
              </a:p>
              <a:p>
                <a:pPr marL="0" indent="0">
                  <a:buNone/>
                </a:pPr>
                <a:r>
                  <a:rPr lang="en-US" b="1" dirty="0"/>
                  <a:t>Example</a:t>
                </a:r>
              </a:p>
              <a:p>
                <a:pPr marL="0" indent="0">
                  <a:buNone/>
                </a:pPr>
                <a:r>
                  <a:rPr lang="en-US" dirty="0"/>
                  <a:t>What is the assembly language statement corresponding to this machine instruction? (Each hexadecimal digit represents four binary digits)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>
                            <a:latin typeface="Letter Gothic Std" panose="020B0409020202030304" pitchFamily="49" charset="77"/>
                          </a:rPr>
                          <m:t>00</m:t>
                        </m:r>
                        <m:r>
                          <m:rPr>
                            <m:nor/>
                          </m:rPr>
                          <a:rPr lang="en-US">
                            <a:latin typeface="Letter Gothic Std" panose="020B0409020202030304" pitchFamily="49" charset="77"/>
                          </a:rPr>
                          <m:t>af</m:t>
                        </m:r>
                        <m:r>
                          <m:rPr>
                            <m:nor/>
                          </m:rPr>
                          <a:rPr lang="en-US">
                            <a:latin typeface="Letter Gothic Std" panose="020B0409020202030304" pitchFamily="49" charset="77"/>
                          </a:rPr>
                          <m:t>8020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𝒉𝒆𝒙</m:t>
                        </m:r>
                      </m:sub>
                    </m:sSub>
                  </m:oMath>
                </a14:m>
                <a:r>
                  <a:rPr lang="en-US" b="1" dirty="0">
                    <a:latin typeface="Letter Gothic Std" panose="020B0409020202030304" pitchFamily="49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AC76DF-CB0F-2F4A-A457-1E2184186C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2650" y="1543403"/>
                <a:ext cx="7886700" cy="4351338"/>
              </a:xfrm>
              <a:blipFill>
                <a:blip r:embed="rId3"/>
                <a:stretch>
                  <a:fillRect l="-618" t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3C3DED-33DF-F848-9493-907CA84F2C94}"/>
              </a:ext>
            </a:extLst>
          </p:cNvPr>
          <p:cNvGraphicFramePr>
            <a:graphicFrameLocks noGrp="1"/>
          </p:cNvGraphicFramePr>
          <p:nvPr/>
        </p:nvGraphicFramePr>
        <p:xfrm>
          <a:off x="2152650" y="4744362"/>
          <a:ext cx="66649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981586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115532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578092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01781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805421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754685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888096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329715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28094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867483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6850049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756411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6074539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568057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581158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2586376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036211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5510253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42430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429416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052569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0593459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9773881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188104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2034127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130369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96078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389578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539928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931230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8181385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1126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71105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CD2349F-93FA-C141-B00B-678D7EF3D1D5}"/>
              </a:ext>
            </a:extLst>
          </p:cNvPr>
          <p:cNvSpPr txBox="1"/>
          <p:nvPr/>
        </p:nvSpPr>
        <p:spPr>
          <a:xfrm>
            <a:off x="8817610" y="4929783"/>
            <a:ext cx="5765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binary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53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F2493-F8B1-CF49-82F7-21ACC150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815" y="115220"/>
            <a:ext cx="7729728" cy="1188720"/>
          </a:xfrm>
        </p:spPr>
        <p:txBody>
          <a:bodyPr/>
          <a:lstStyle/>
          <a:p>
            <a:r>
              <a:rPr lang="en-US" dirty="0"/>
              <a:t>Decoding Machine Language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CF5B15-F6DA-4F4D-8F02-FE45C48E5F6F}"/>
              </a:ext>
            </a:extLst>
          </p:cNvPr>
          <p:cNvGraphicFramePr>
            <a:graphicFrameLocks noGrp="1"/>
          </p:cNvGraphicFramePr>
          <p:nvPr/>
        </p:nvGraphicFramePr>
        <p:xfrm>
          <a:off x="2235199" y="1886404"/>
          <a:ext cx="66649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981586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115532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578092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01781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805421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754685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888096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329715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28094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867483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6850049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756411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6074539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568057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581158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2586376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036211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5510253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42430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429416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052569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0593459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9773881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188104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2034127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130369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96078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389578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539928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931230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8181385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1126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71105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B96DDE-2CA3-104F-BE8A-D2C4C19390E4}"/>
              </a:ext>
            </a:extLst>
          </p:cNvPr>
          <p:cNvSpPr txBox="1"/>
          <p:nvPr/>
        </p:nvSpPr>
        <p:spPr>
          <a:xfrm>
            <a:off x="8827909" y="1986842"/>
            <a:ext cx="5765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binary</a:t>
            </a:r>
            <a:endParaRPr lang="en-US" dirty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194F79BB-B012-E44F-B859-98EBD01C1E97}"/>
              </a:ext>
            </a:extLst>
          </p:cNvPr>
          <p:cNvSpPr/>
          <p:nvPr/>
        </p:nvSpPr>
        <p:spPr>
          <a:xfrm rot="16200000">
            <a:off x="2748191" y="1651861"/>
            <a:ext cx="276999" cy="1133644"/>
          </a:xfrm>
          <a:prstGeom prst="leftBrace">
            <a:avLst>
              <a:gd name="adj1" fmla="val 8333"/>
              <a:gd name="adj2" fmla="val 490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76242F-8E74-2240-8B00-4B6ABD6B6E76}"/>
              </a:ext>
            </a:extLst>
          </p:cNvPr>
          <p:cNvSpPr txBox="1"/>
          <p:nvPr/>
        </p:nvSpPr>
        <p:spPr>
          <a:xfrm>
            <a:off x="2326400" y="2272044"/>
            <a:ext cx="11528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 (6 bits)</a:t>
            </a:r>
          </a:p>
          <a:p>
            <a:r>
              <a:rPr lang="en-US" i="1" dirty="0">
                <a:latin typeface="Letter Gothic Std" panose="020B0409020202030304" pitchFamily="49" charset="77"/>
              </a:rPr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C6969-1F9B-434C-8D6D-385F14C33CB0}"/>
              </a:ext>
            </a:extLst>
          </p:cNvPr>
          <p:cNvSpPr txBox="1"/>
          <p:nvPr/>
        </p:nvSpPr>
        <p:spPr>
          <a:xfrm>
            <a:off x="7794244" y="2272043"/>
            <a:ext cx="1378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funct</a:t>
            </a:r>
            <a:r>
              <a:rPr lang="en-US" dirty="0"/>
              <a:t> (6 bits)</a:t>
            </a:r>
          </a:p>
          <a:p>
            <a:r>
              <a:rPr lang="en-US" i="1" dirty="0">
                <a:latin typeface="Letter Gothic Std" panose="020B0409020202030304" pitchFamily="49" charset="77"/>
              </a:rPr>
              <a:t>32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C5DBAB92-A2B9-944E-A9FA-B66CFA568FFC}"/>
              </a:ext>
            </a:extLst>
          </p:cNvPr>
          <p:cNvSpPr/>
          <p:nvPr/>
        </p:nvSpPr>
        <p:spPr>
          <a:xfrm rot="16200000">
            <a:off x="8174277" y="1646951"/>
            <a:ext cx="276999" cy="1133644"/>
          </a:xfrm>
          <a:prstGeom prst="leftBrace">
            <a:avLst>
              <a:gd name="adj1" fmla="val 8333"/>
              <a:gd name="adj2" fmla="val 490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056AFC-2258-9643-A1C0-B861B68B52AC}"/>
              </a:ext>
            </a:extLst>
          </p:cNvPr>
          <p:cNvSpPr txBox="1"/>
          <p:nvPr/>
        </p:nvSpPr>
        <p:spPr>
          <a:xfrm>
            <a:off x="2152651" y="3429000"/>
            <a:ext cx="42559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Check </a:t>
            </a:r>
            <a:r>
              <a:rPr lang="en-US" dirty="0">
                <a:latin typeface="Letter Gothic Std" panose="020B0409020202030304" pitchFamily="49" charset="77"/>
              </a:rPr>
              <a:t>op</a:t>
            </a:r>
            <a:r>
              <a:rPr lang="en-US" dirty="0"/>
              <a:t> (first 6 bits), it is </a:t>
            </a:r>
            <a:r>
              <a:rPr lang="en-US" dirty="0">
                <a:latin typeface="Letter Gothic Std" panose="020B0409020202030304" pitchFamily="49" charset="77"/>
              </a:rPr>
              <a:t>0</a:t>
            </a:r>
          </a:p>
          <a:p>
            <a:pPr marL="342900" indent="-342900">
              <a:buAutoNum type="arabicPeriod"/>
            </a:pPr>
            <a:r>
              <a:rPr lang="en-US" dirty="0"/>
              <a:t>According to Figure A.10.2, this operation has function code</a:t>
            </a:r>
          </a:p>
          <a:p>
            <a:pPr marL="342900" indent="-342900">
              <a:buAutoNum type="arabicPeriod"/>
            </a:pPr>
            <a:r>
              <a:rPr lang="en-US" dirty="0"/>
              <a:t>Check </a:t>
            </a:r>
            <a:r>
              <a:rPr lang="en-US" dirty="0" err="1">
                <a:latin typeface="Letter Gothic Std" panose="020B0409020202030304" pitchFamily="49" charset="77"/>
              </a:rPr>
              <a:t>funct</a:t>
            </a:r>
            <a:r>
              <a:rPr lang="en-US" dirty="0"/>
              <a:t> (last 6 bits), it is </a:t>
            </a:r>
            <a:r>
              <a:rPr lang="en-US" dirty="0">
                <a:latin typeface="Letter Gothic Std" panose="020B0409020202030304" pitchFamily="49" charset="77"/>
              </a:rPr>
              <a:t>32</a:t>
            </a:r>
          </a:p>
          <a:p>
            <a:pPr marL="342900" indent="-342900">
              <a:buAutoNum type="arabicPeriod"/>
            </a:pPr>
            <a:r>
              <a:rPr lang="en-US" dirty="0"/>
              <a:t>According to the Figure A.10.2, the operation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</a:p>
          <a:p>
            <a:pPr marL="342900" indent="-342900">
              <a:buAutoNum type="arabicPeriod"/>
            </a:pPr>
            <a:r>
              <a:rPr lang="en-US" dirty="0"/>
              <a:t>It is a R type instruction</a:t>
            </a:r>
          </a:p>
          <a:p>
            <a:pPr marL="342900" indent="-342900">
              <a:buAutoNum type="arabicPeriod"/>
            </a:pPr>
            <a:r>
              <a:rPr lang="en-US" dirty="0"/>
              <a:t>Check </a:t>
            </a:r>
            <a:r>
              <a:rPr lang="en-US" dirty="0" err="1">
                <a:latin typeface="Letter Gothic Std" panose="020B0409020202030304" pitchFamily="49" charset="77"/>
              </a:rPr>
              <a:t>rs</a:t>
            </a:r>
            <a:r>
              <a:rPr lang="en-US" dirty="0">
                <a:latin typeface="Letter Gothic Std" panose="020B0409020202030304" pitchFamily="49" charset="77"/>
              </a:rPr>
              <a:t>, rt, </a:t>
            </a:r>
            <a:r>
              <a:rPr lang="en-US" dirty="0" err="1">
                <a:latin typeface="Letter Gothic Std" panose="020B0409020202030304" pitchFamily="49" charset="77"/>
              </a:rPr>
              <a:t>rd</a:t>
            </a:r>
            <a:r>
              <a:rPr lang="en-US" dirty="0">
                <a:latin typeface="Letter Gothic Std" panose="020B0409020202030304" pitchFamily="49" charset="77"/>
              </a:rPr>
              <a:t>, </a:t>
            </a:r>
            <a:r>
              <a:rPr lang="en-US" dirty="0" err="1">
                <a:latin typeface="Letter Gothic Std" panose="020B0409020202030304" pitchFamily="49" charset="77"/>
              </a:rPr>
              <a:t>shamt</a:t>
            </a:r>
            <a:r>
              <a:rPr lang="en-US" dirty="0">
                <a:latin typeface="Letter Gothic Std" panose="020B0409020202030304" pitchFamily="49" charset="77"/>
              </a:rPr>
              <a:t> </a:t>
            </a:r>
            <a:r>
              <a:rPr lang="en-US" dirty="0"/>
              <a:t>respectively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F0DCFB-0A98-DE45-8C49-2D2C0B0A0D63}"/>
              </a:ext>
            </a:extLst>
          </p:cNvPr>
          <p:cNvSpPr txBox="1"/>
          <p:nvPr/>
        </p:nvSpPr>
        <p:spPr>
          <a:xfrm>
            <a:off x="7213600" y="4244622"/>
            <a:ext cx="1792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$s0, $a1, $t7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DC2DAEEA-1A86-2A40-BEEA-7D6E868E03B2}"/>
              </a:ext>
            </a:extLst>
          </p:cNvPr>
          <p:cNvSpPr/>
          <p:nvPr/>
        </p:nvSpPr>
        <p:spPr>
          <a:xfrm rot="16200000">
            <a:off x="3876195" y="1747382"/>
            <a:ext cx="276999" cy="907869"/>
          </a:xfrm>
          <a:prstGeom prst="leftBrace">
            <a:avLst>
              <a:gd name="adj1" fmla="val 8333"/>
              <a:gd name="adj2" fmla="val 490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BD3FD053-1125-A940-B798-6260F2C074D0}"/>
              </a:ext>
            </a:extLst>
          </p:cNvPr>
          <p:cNvSpPr/>
          <p:nvPr/>
        </p:nvSpPr>
        <p:spPr>
          <a:xfrm rot="16200000">
            <a:off x="4918646" y="1764749"/>
            <a:ext cx="276999" cy="907869"/>
          </a:xfrm>
          <a:prstGeom prst="leftBrace">
            <a:avLst>
              <a:gd name="adj1" fmla="val 8333"/>
              <a:gd name="adj2" fmla="val 490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D77B5067-98BD-FE4D-810B-0CD53104C342}"/>
              </a:ext>
            </a:extLst>
          </p:cNvPr>
          <p:cNvSpPr/>
          <p:nvPr/>
        </p:nvSpPr>
        <p:spPr>
          <a:xfrm rot="16200000">
            <a:off x="6000575" y="1751566"/>
            <a:ext cx="276999" cy="907869"/>
          </a:xfrm>
          <a:prstGeom prst="leftBrace">
            <a:avLst>
              <a:gd name="adj1" fmla="val 8333"/>
              <a:gd name="adj2" fmla="val 490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88BC991D-8920-9845-BE5A-58E61FDBA061}"/>
              </a:ext>
            </a:extLst>
          </p:cNvPr>
          <p:cNvSpPr/>
          <p:nvPr/>
        </p:nvSpPr>
        <p:spPr>
          <a:xfrm rot="16200000">
            <a:off x="7040330" y="1764193"/>
            <a:ext cx="276999" cy="907869"/>
          </a:xfrm>
          <a:prstGeom prst="leftBrace">
            <a:avLst>
              <a:gd name="adj1" fmla="val 8333"/>
              <a:gd name="adj2" fmla="val 490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D489F1-EC57-504F-AE6F-C45603ADB6D1}"/>
              </a:ext>
            </a:extLst>
          </p:cNvPr>
          <p:cNvSpPr txBox="1"/>
          <p:nvPr/>
        </p:nvSpPr>
        <p:spPr>
          <a:xfrm>
            <a:off x="3437306" y="2266754"/>
            <a:ext cx="10903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rs</a:t>
            </a:r>
            <a:r>
              <a:rPr lang="en-US" dirty="0"/>
              <a:t> (5 bits)</a:t>
            </a:r>
          </a:p>
          <a:p>
            <a:r>
              <a:rPr lang="en-US" i="1" dirty="0">
                <a:latin typeface="Letter Gothic Std" panose="020B0409020202030304" pitchFamily="49" charset="77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001FF4-4120-BF44-8ACE-2E50D66A83B9}"/>
              </a:ext>
            </a:extLst>
          </p:cNvPr>
          <p:cNvSpPr txBox="1"/>
          <p:nvPr/>
        </p:nvSpPr>
        <p:spPr>
          <a:xfrm>
            <a:off x="4500723" y="2272043"/>
            <a:ext cx="1083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rt (5 bits)</a:t>
            </a:r>
          </a:p>
          <a:p>
            <a:r>
              <a:rPr lang="en-US" i="1" dirty="0">
                <a:latin typeface="Letter Gothic Std" panose="020B0409020202030304" pitchFamily="49" charset="77"/>
              </a:rPr>
              <a:t>15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039CB2-48D9-764E-BA2B-FBC963593A51}"/>
              </a:ext>
            </a:extLst>
          </p:cNvPr>
          <p:cNvSpPr txBox="1"/>
          <p:nvPr/>
        </p:nvSpPr>
        <p:spPr>
          <a:xfrm>
            <a:off x="5567680" y="2266193"/>
            <a:ext cx="11157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rd</a:t>
            </a:r>
            <a:r>
              <a:rPr lang="en-US" dirty="0"/>
              <a:t> (5 bits)</a:t>
            </a:r>
          </a:p>
          <a:p>
            <a:r>
              <a:rPr lang="en-US" i="1" dirty="0">
                <a:latin typeface="Letter Gothic Std" panose="020B0409020202030304" pitchFamily="49" charset="77"/>
              </a:rPr>
              <a:t>16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9995A1-3FA4-E549-BB6D-E5B8D5EC90F1}"/>
              </a:ext>
            </a:extLst>
          </p:cNvPr>
          <p:cNvSpPr txBox="1"/>
          <p:nvPr/>
        </p:nvSpPr>
        <p:spPr>
          <a:xfrm>
            <a:off x="6697533" y="2266192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used</a:t>
            </a:r>
            <a:endParaRPr lang="en-US" i="1" dirty="0">
              <a:latin typeface="Letter Gothic Std" panose="020B04090202020303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3285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10" grpId="0" animBg="1"/>
      <p:bldP spid="12" grpId="0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F2493-F8B1-CF49-82F7-21ACC150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112506"/>
            <a:ext cx="7729728" cy="1188720"/>
          </a:xfrm>
        </p:spPr>
        <p:txBody>
          <a:bodyPr/>
          <a:lstStyle/>
          <a:p>
            <a:r>
              <a:rPr lang="en-US" dirty="0"/>
              <a:t>Encoding and Decoding Machine Language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C76DF-CB0F-2F4A-A457-1E2184186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825626"/>
            <a:ext cx="7886700" cy="11659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Translate the following machine code to assembly code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DAE724-5E99-184B-8A6B-403A21B3DA3B}"/>
              </a:ext>
            </a:extLst>
          </p:cNvPr>
          <p:cNvGraphicFramePr>
            <a:graphicFrameLocks noGrp="1"/>
          </p:cNvGraphicFramePr>
          <p:nvPr/>
        </p:nvGraphicFramePr>
        <p:xfrm>
          <a:off x="2212621" y="3591026"/>
          <a:ext cx="66649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981586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115532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578092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01781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805421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754685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888096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329715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28094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867483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6850049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756411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6074539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568057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581158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2586376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036211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5510253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42430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429416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052569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0593459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9773881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188104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2034127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130369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96078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389578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539928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931230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8181385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1126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711056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8A768DA-F8AF-F740-B6F4-9F264D0B02DD}"/>
              </a:ext>
            </a:extLst>
          </p:cNvPr>
          <p:cNvSpPr txBox="1"/>
          <p:nvPr/>
        </p:nvSpPr>
        <p:spPr>
          <a:xfrm>
            <a:off x="8805331" y="3691464"/>
            <a:ext cx="5765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binary</a:t>
            </a:r>
            <a:endParaRPr lang="en-US" dirty="0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C0BCE381-503B-D946-A30F-A4D792892D85}"/>
              </a:ext>
            </a:extLst>
          </p:cNvPr>
          <p:cNvSpPr/>
          <p:nvPr/>
        </p:nvSpPr>
        <p:spPr>
          <a:xfrm rot="16200000">
            <a:off x="2725613" y="3356483"/>
            <a:ext cx="276999" cy="1133644"/>
          </a:xfrm>
          <a:prstGeom prst="leftBrace">
            <a:avLst>
              <a:gd name="adj1" fmla="val 8333"/>
              <a:gd name="adj2" fmla="val 490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FDCB97-C96D-E74E-BD0F-32C7B2AA0DA4}"/>
              </a:ext>
            </a:extLst>
          </p:cNvPr>
          <p:cNvSpPr txBox="1"/>
          <p:nvPr/>
        </p:nvSpPr>
        <p:spPr>
          <a:xfrm>
            <a:off x="2303822" y="3976666"/>
            <a:ext cx="11528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 (6 bits)</a:t>
            </a:r>
          </a:p>
          <a:p>
            <a:r>
              <a:rPr lang="en-US" i="1" dirty="0">
                <a:latin typeface="Letter Gothic Std" panose="020B0409020202030304" pitchFamily="49" charset="77"/>
              </a:rPr>
              <a:t>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7DFF5-0D74-E146-B19E-414AFFAFF41C}"/>
              </a:ext>
            </a:extLst>
          </p:cNvPr>
          <p:cNvSpPr txBox="1"/>
          <p:nvPr/>
        </p:nvSpPr>
        <p:spPr>
          <a:xfrm>
            <a:off x="6666775" y="3976665"/>
            <a:ext cx="18151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constant (16 bits)</a:t>
            </a:r>
          </a:p>
          <a:p>
            <a:r>
              <a:rPr lang="en-US" i="1" dirty="0">
                <a:latin typeface="Letter Gothic Std" panose="020B0409020202030304" pitchFamily="49" charset="77"/>
              </a:rPr>
              <a:t>4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03A4B5B1-0362-354B-B4DA-6156A27F6F37}"/>
              </a:ext>
            </a:extLst>
          </p:cNvPr>
          <p:cNvSpPr/>
          <p:nvPr/>
        </p:nvSpPr>
        <p:spPr>
          <a:xfrm rot="16200000">
            <a:off x="7112235" y="2312109"/>
            <a:ext cx="276999" cy="3212573"/>
          </a:xfrm>
          <a:prstGeom prst="leftBrace">
            <a:avLst>
              <a:gd name="adj1" fmla="val 8333"/>
              <a:gd name="adj2" fmla="val 490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0E69A231-0092-7D4C-B58C-24ABE96A5639}"/>
              </a:ext>
            </a:extLst>
          </p:cNvPr>
          <p:cNvSpPr/>
          <p:nvPr/>
        </p:nvSpPr>
        <p:spPr>
          <a:xfrm rot="16200000">
            <a:off x="3853617" y="3452004"/>
            <a:ext cx="276999" cy="907869"/>
          </a:xfrm>
          <a:prstGeom prst="leftBrace">
            <a:avLst>
              <a:gd name="adj1" fmla="val 8333"/>
              <a:gd name="adj2" fmla="val 490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071AA8FF-9D5E-0646-854F-1ECE523ADFCC}"/>
              </a:ext>
            </a:extLst>
          </p:cNvPr>
          <p:cNvSpPr/>
          <p:nvPr/>
        </p:nvSpPr>
        <p:spPr>
          <a:xfrm rot="16200000">
            <a:off x="4896068" y="3469371"/>
            <a:ext cx="276999" cy="907869"/>
          </a:xfrm>
          <a:prstGeom prst="leftBrace">
            <a:avLst>
              <a:gd name="adj1" fmla="val 8333"/>
              <a:gd name="adj2" fmla="val 490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DC0D7C-9997-E049-A2E8-3F698E20914F}"/>
              </a:ext>
            </a:extLst>
          </p:cNvPr>
          <p:cNvSpPr txBox="1"/>
          <p:nvPr/>
        </p:nvSpPr>
        <p:spPr>
          <a:xfrm>
            <a:off x="3414728" y="3971376"/>
            <a:ext cx="10903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rs</a:t>
            </a:r>
            <a:r>
              <a:rPr lang="en-US" dirty="0"/>
              <a:t> (5 bits)</a:t>
            </a:r>
          </a:p>
          <a:p>
            <a:r>
              <a:rPr lang="en-US" i="1" dirty="0">
                <a:latin typeface="Letter Gothic Std" panose="020B0409020202030304" pitchFamily="49" charset="77"/>
              </a:rPr>
              <a:t>29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2C923F-C35C-FA4B-8FA8-763A0346B1A9}"/>
              </a:ext>
            </a:extLst>
          </p:cNvPr>
          <p:cNvSpPr txBox="1"/>
          <p:nvPr/>
        </p:nvSpPr>
        <p:spPr>
          <a:xfrm>
            <a:off x="4478145" y="3976665"/>
            <a:ext cx="1083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rt (5 bits)</a:t>
            </a:r>
          </a:p>
          <a:p>
            <a:r>
              <a:rPr lang="en-US" i="1" dirty="0">
                <a:latin typeface="Letter Gothic Std" panose="020B0409020202030304" pitchFamily="49" charset="77"/>
              </a:rPr>
              <a:t>31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72A56F-D61D-FE4C-A5B9-04A2FC585C75}"/>
              </a:ext>
            </a:extLst>
          </p:cNvPr>
          <p:cNvSpPr txBox="1"/>
          <p:nvPr/>
        </p:nvSpPr>
        <p:spPr>
          <a:xfrm>
            <a:off x="2297290" y="5204178"/>
            <a:ext cx="1646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Letter Gothic Std" panose="020B0409020202030304" pitchFamily="49" charset="77"/>
              </a:rPr>
              <a:t>sw</a:t>
            </a:r>
            <a:r>
              <a:rPr lang="en-US" dirty="0">
                <a:latin typeface="Letter Gothic Std" panose="020B0409020202030304" pitchFamily="49" charset="77"/>
              </a:rPr>
              <a:t>	$ra, 4($</a:t>
            </a:r>
            <a:r>
              <a:rPr lang="en-US" dirty="0" err="1">
                <a:latin typeface="Letter Gothic Std" panose="020B0409020202030304" pitchFamily="49" charset="77"/>
              </a:rPr>
              <a:t>sp</a:t>
            </a:r>
            <a:r>
              <a:rPr lang="en-US" dirty="0">
                <a:latin typeface="Letter Gothic Std" panose="020B0409020202030304" pitchFamily="49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4541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 animBg="1"/>
      <p:bldP spid="14" grpId="0" animBg="1"/>
      <p:bldP spid="15" grpId="0" animBg="1"/>
      <p:bldP spid="18" grpId="0"/>
      <p:bldP spid="19" grpId="0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F2493-F8B1-CF49-82F7-21ACC150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0134" y="236756"/>
            <a:ext cx="7729728" cy="1188720"/>
          </a:xfrm>
        </p:spPr>
        <p:txBody>
          <a:bodyPr/>
          <a:lstStyle/>
          <a:p>
            <a:r>
              <a:rPr lang="en-US" dirty="0"/>
              <a:t>Encoding and Decoding Machine Language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C76DF-CB0F-2F4A-A457-1E2184186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825626"/>
            <a:ext cx="7886700" cy="11659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Translate the following assembly code to machine code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8C42CD-CFE9-DE4B-9FB4-97DFA05E198C}"/>
              </a:ext>
            </a:extLst>
          </p:cNvPr>
          <p:cNvSpPr txBox="1"/>
          <p:nvPr/>
        </p:nvSpPr>
        <p:spPr>
          <a:xfrm>
            <a:off x="2370667" y="2806890"/>
            <a:ext cx="1593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Letter Gothic Std" panose="020B0409020202030304" pitchFamily="49" charset="77"/>
              </a:rPr>
              <a:t>sw</a:t>
            </a:r>
            <a:r>
              <a:rPr lang="en-US" dirty="0">
                <a:latin typeface="Letter Gothic Std" panose="020B0409020202030304" pitchFamily="49" charset="77"/>
              </a:rPr>
              <a:t> 	$ra,4($</a:t>
            </a:r>
            <a:r>
              <a:rPr lang="en-US" dirty="0" err="1">
                <a:latin typeface="Letter Gothic Std" panose="020B0409020202030304" pitchFamily="49" charset="77"/>
              </a:rPr>
              <a:t>sp</a:t>
            </a:r>
            <a:r>
              <a:rPr lang="en-US" dirty="0">
                <a:latin typeface="Letter Gothic Std" panose="020B0409020202030304" pitchFamily="49" charset="77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9869AD-564D-584E-B5DA-B95C6751FEB4}"/>
                  </a:ext>
                </a:extLst>
              </p:cNvPr>
              <p:cNvSpPr txBox="1"/>
              <p:nvPr/>
            </p:nvSpPr>
            <p:spPr>
              <a:xfrm>
                <a:off x="2370668" y="3541801"/>
                <a:ext cx="3484031" cy="12880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</a:t>
                </a:r>
                <a:r>
                  <a:rPr lang="en-US" dirty="0" err="1"/>
                  <a:t>w</a:t>
                </a:r>
                <a:r>
                  <a:rPr lang="en-US" dirty="0"/>
                  <a:t> </a:t>
                </a:r>
                <a:r>
                  <a:rPr lang="en-US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43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𝑑𝑒𝑐𝑖𝑚𝑎𝑙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itchFamily="2" charset="2"/>
                  </a:rPr>
                  <a:t>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10 1011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𝑏𝑖𝑛𝑎𝑟𝑦</m:t>
                        </m:r>
                      </m:sub>
                    </m:sSub>
                  </m:oMath>
                </a14:m>
                <a:r>
                  <a:rPr lang="en-US" dirty="0">
                    <a:sym typeface="Wingdings" pitchFamily="2" charset="2"/>
                  </a:rPr>
                  <a:t> </a:t>
                </a:r>
                <a:endParaRPr lang="en-US" dirty="0"/>
              </a:p>
              <a:p>
                <a:r>
                  <a:rPr lang="en-US" dirty="0"/>
                  <a:t>$ra</a:t>
                </a:r>
                <a:r>
                  <a:rPr lang="en-US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31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𝑑𝑒𝑐𝑖𝑚𝑎𝑙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1 1111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𝑏𝑖𝑛𝑎𝑟𝑦</m:t>
                        </m:r>
                      </m:sub>
                    </m:sSub>
                  </m:oMath>
                </a14:m>
                <a:r>
                  <a:rPr lang="en-US" dirty="0">
                    <a:sym typeface="Wingdings" pitchFamily="2" charset="2"/>
                  </a:rPr>
                  <a:t> </a:t>
                </a:r>
              </a:p>
              <a:p>
                <a:r>
                  <a:rPr lang="en-US" dirty="0"/>
                  <a:t>$</a:t>
                </a:r>
                <a:r>
                  <a:rPr lang="en-US" dirty="0" err="1"/>
                  <a:t>sp</a:t>
                </a:r>
                <a:r>
                  <a:rPr lang="en-US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29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𝑑𝑒𝑐𝑖𝑚𝑎𝑙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1 1101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𝑏𝑖𝑛𝑎𝑟𝑦</m:t>
                        </m:r>
                      </m:sub>
                    </m:sSub>
                  </m:oMath>
                </a14:m>
                <a:endParaRPr lang="en-US" dirty="0">
                  <a:sym typeface="Wingdings" pitchFamily="2" charset="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4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𝑑𝑒𝑐𝑖𝑚𝑎𝑙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 0100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𝑏𝑖𝑛𝑎𝑟𝑦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9869AD-564D-584E-B5DA-B95C6751F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668" y="3541801"/>
                <a:ext cx="3484031" cy="1288045"/>
              </a:xfrm>
              <a:prstGeom prst="rect">
                <a:avLst/>
              </a:prstGeom>
              <a:blipFill>
                <a:blip r:embed="rId3"/>
                <a:stretch>
                  <a:fillRect l="-1576" t="-2370" b="-5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755B073-6AE3-5247-92B2-26AC381EB5E5}"/>
              </a:ext>
            </a:extLst>
          </p:cNvPr>
          <p:cNvGraphicFramePr>
            <a:graphicFrameLocks noGrp="1"/>
          </p:cNvGraphicFramePr>
          <p:nvPr/>
        </p:nvGraphicFramePr>
        <p:xfrm>
          <a:off x="2370667" y="5081162"/>
          <a:ext cx="6935766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4010">
                  <a:extLst>
                    <a:ext uri="{9D8B030D-6E8A-4147-A177-3AD203B41FA5}">
                      <a16:colId xmlns:a16="http://schemas.microsoft.com/office/drawing/2014/main" val="498158613"/>
                    </a:ext>
                  </a:extLst>
                </a:gridCol>
                <a:gridCol w="1083030">
                  <a:extLst>
                    <a:ext uri="{9D8B030D-6E8A-4147-A177-3AD203B41FA5}">
                      <a16:colId xmlns:a16="http://schemas.microsoft.com/office/drawing/2014/main" val="488809621"/>
                    </a:ext>
                  </a:extLst>
                </a:gridCol>
                <a:gridCol w="1083030">
                  <a:extLst>
                    <a:ext uri="{9D8B030D-6E8A-4147-A177-3AD203B41FA5}">
                      <a16:colId xmlns:a16="http://schemas.microsoft.com/office/drawing/2014/main" val="2775641189"/>
                    </a:ext>
                  </a:extLst>
                </a:gridCol>
                <a:gridCol w="3465696">
                  <a:extLst>
                    <a:ext uri="{9D8B030D-6E8A-4147-A177-3AD203B41FA5}">
                      <a16:colId xmlns:a16="http://schemas.microsoft.com/office/drawing/2014/main" val="2903621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0000 0000 0000 0100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110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 (6 bits)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rs</a:t>
                      </a:r>
                      <a:r>
                        <a:rPr lang="en-US" dirty="0"/>
                        <a:t> (5 bits)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rt (5 bits)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constant (16bits)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048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437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F2493-F8B1-CF49-82F7-21ACC150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12362"/>
            <a:ext cx="7729728" cy="1188720"/>
          </a:xfrm>
        </p:spPr>
        <p:txBody>
          <a:bodyPr/>
          <a:lstStyle/>
          <a:p>
            <a:r>
              <a:rPr lang="en-US" dirty="0"/>
              <a:t>Encoding and Decoding Machine Language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C76DF-CB0F-2F4A-A457-1E2184186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466" y="1845578"/>
            <a:ext cx="8182398" cy="389444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Exercise / Assignment </a:t>
            </a:r>
            <a:r>
              <a:rPr lang="en-US" b="1"/>
              <a:t>2 </a:t>
            </a:r>
            <a:endParaRPr lang="en-US" b="1" dirty="0"/>
          </a:p>
          <a:p>
            <a:pPr marL="342900" indent="-342900">
              <a:buAutoNum type="arabicParenR"/>
            </a:pPr>
            <a:r>
              <a:rPr lang="en-US" dirty="0"/>
              <a:t>Translate the following machine code to assembly code ( Refer slides 27 and 28 in this chapter to solve this question) 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2) Translate the following assembly code to machine code (Refer slide #30 to solve this question)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61428F-B9A2-FC42-BB12-7132E5F58662}"/>
                  </a:ext>
                </a:extLst>
              </p:cNvPr>
              <p:cNvSpPr txBox="1"/>
              <p:nvPr/>
            </p:nvSpPr>
            <p:spPr>
              <a:xfrm>
                <a:off x="3170521" y="2990904"/>
                <a:ext cx="14827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dirty="0">
                              <a:latin typeface="Letter Gothic Std" panose="020B0409020202030304" pitchFamily="49" charset="77"/>
                            </a:rPr>
                            <m:t>28880002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h𝑒𝑥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Letter Gothic Std" panose="020B0409020202030304" pitchFamily="49" charset="77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61428F-B9A2-FC42-BB12-7132E5F58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521" y="2990904"/>
                <a:ext cx="14827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6D88F7B-488C-7543-A864-9F1C4779A305}"/>
              </a:ext>
            </a:extLst>
          </p:cNvPr>
          <p:cNvSpPr txBox="1"/>
          <p:nvPr/>
        </p:nvSpPr>
        <p:spPr>
          <a:xfrm>
            <a:off x="3260424" y="4100597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Letter Gothic Std" panose="020B0409020202030304" pitchFamily="49" charset="77"/>
              </a:rPr>
              <a:t>beq</a:t>
            </a:r>
            <a:r>
              <a:rPr lang="en-US" dirty="0">
                <a:latin typeface="Letter Gothic Std" panose="020B0409020202030304" pitchFamily="49" charset="77"/>
              </a:rPr>
              <a:t> 	$t0, $s1, L1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6E7613-EDEC-BB42-8BDB-C9AB96FDD362}"/>
                  </a:ext>
                </a:extLst>
              </p:cNvPr>
              <p:cNvSpPr txBox="1"/>
              <p:nvPr/>
            </p:nvSpPr>
            <p:spPr>
              <a:xfrm>
                <a:off x="2472267" y="4505562"/>
                <a:ext cx="4817922" cy="6682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(Assume </a:t>
                </a:r>
                <a:r>
                  <a:rPr lang="en-US" dirty="0">
                    <a:latin typeface="Letter Gothic Std" panose="020B0409020202030304" pitchFamily="49" charset="77"/>
                  </a:rPr>
                  <a:t>L1</a:t>
                </a:r>
                <a:r>
                  <a:rPr lang="en-US" dirty="0"/>
                  <a:t> is in memory address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011010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𝑏𝑖𝑛𝑎𝑟𝑦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and </a:t>
                </a:r>
                <a:r>
                  <a:rPr lang="en-US" dirty="0" err="1">
                    <a:latin typeface="Letter Gothic Std" panose="020B0409020202030304" pitchFamily="49" charset="77"/>
                  </a:rPr>
                  <a:t>beq</a:t>
                </a:r>
                <a:r>
                  <a:rPr lang="en-US" dirty="0"/>
                  <a:t> has a syntax </a:t>
                </a:r>
                <a:r>
                  <a:rPr lang="en-US" dirty="0" err="1">
                    <a:latin typeface="Letter Gothic Std" panose="020B0409020202030304" pitchFamily="49" charset="77"/>
                  </a:rPr>
                  <a:t>beq</a:t>
                </a:r>
                <a:r>
                  <a:rPr lang="en-US" dirty="0">
                    <a:latin typeface="Letter Gothic Std" panose="020B0409020202030304" pitchFamily="49" charset="77"/>
                  </a:rPr>
                  <a:t> </a:t>
                </a:r>
                <a:r>
                  <a:rPr lang="en-US" dirty="0" err="1">
                    <a:latin typeface="Letter Gothic Std" panose="020B0409020202030304" pitchFamily="49" charset="77"/>
                  </a:rPr>
                  <a:t>rs</a:t>
                </a:r>
                <a:r>
                  <a:rPr lang="en-US" dirty="0">
                    <a:latin typeface="Letter Gothic Std" panose="020B0409020202030304" pitchFamily="49" charset="77"/>
                  </a:rPr>
                  <a:t>, rt, label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6E7613-EDEC-BB42-8BDB-C9AB96FDD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267" y="4505562"/>
                <a:ext cx="4817922" cy="668260"/>
              </a:xfrm>
              <a:prstGeom prst="rect">
                <a:avLst/>
              </a:prstGeom>
              <a:blipFill>
                <a:blip r:embed="rId4"/>
                <a:stretch>
                  <a:fillRect l="-1139" t="-4545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8FCACC1-710B-4E67-AD82-A0BBEDDAAF4D}"/>
              </a:ext>
            </a:extLst>
          </p:cNvPr>
          <p:cNvSpPr txBox="1"/>
          <p:nvPr/>
        </p:nvSpPr>
        <p:spPr>
          <a:xfrm>
            <a:off x="2567030" y="5394121"/>
            <a:ext cx="3103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Opcode for </a:t>
            </a:r>
            <a:r>
              <a:rPr lang="en-US" dirty="0" err="1"/>
              <a:t>beq</a:t>
            </a:r>
            <a:r>
              <a:rPr lang="en-US" dirty="0"/>
              <a:t> is 000100</a:t>
            </a:r>
          </a:p>
        </p:txBody>
      </p:sp>
    </p:spTree>
    <p:extLst>
      <p:ext uri="{BB962C8B-B14F-4D97-AF65-F5344CB8AC3E}">
        <p14:creationId xmlns:p14="http://schemas.microsoft.com/office/powerpoint/2010/main" val="100895322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1092</TotalTime>
  <Words>3338</Words>
  <Application>Microsoft Office PowerPoint</Application>
  <PresentationFormat>Widescreen</PresentationFormat>
  <Paragraphs>460</Paragraphs>
  <Slides>31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Arial</vt:lpstr>
      <vt:lpstr>Arial Unicode MS</vt:lpstr>
      <vt:lpstr>Calibri</vt:lpstr>
      <vt:lpstr>Cambria Math</vt:lpstr>
      <vt:lpstr>Courier New</vt:lpstr>
      <vt:lpstr>Gill Sans MT</vt:lpstr>
      <vt:lpstr>ITCFranklinGothicStd-Hvy</vt:lpstr>
      <vt:lpstr>Letter Gothic Std</vt:lpstr>
      <vt:lpstr>LetterGothicStd</vt:lpstr>
      <vt:lpstr>MinionPro-Regular</vt:lpstr>
      <vt:lpstr>Times New Roman</vt:lpstr>
      <vt:lpstr>Parcel</vt:lpstr>
      <vt:lpstr>Chapter 2</vt:lpstr>
      <vt:lpstr>introduction</vt:lpstr>
      <vt:lpstr>Operations of the computer hardware</vt:lpstr>
      <vt:lpstr>PowerPoint Presentation</vt:lpstr>
      <vt:lpstr>Translating a C statement into MiPS</vt:lpstr>
      <vt:lpstr>Registers used in MIPS</vt:lpstr>
      <vt:lpstr>MIPs assembly language instructions</vt:lpstr>
      <vt:lpstr>MIPs assembly language instructions contd…</vt:lpstr>
      <vt:lpstr>PowerPoint Presentation</vt:lpstr>
      <vt:lpstr>PowerPoint Presentation</vt:lpstr>
      <vt:lpstr>Signed and unsigned numbers</vt:lpstr>
      <vt:lpstr>Signed and unsigned numbers contd….</vt:lpstr>
      <vt:lpstr>PowerPoint Presentation</vt:lpstr>
      <vt:lpstr>MIPS instruction format</vt:lpstr>
      <vt:lpstr>Translating a MIPS Assembly Instruction into a Machine Instruction</vt:lpstr>
      <vt:lpstr>PowerPoint Presentation</vt:lpstr>
      <vt:lpstr>Example for I type instruction format</vt:lpstr>
      <vt:lpstr>Logical operations</vt:lpstr>
      <vt:lpstr>Logical mips instructions</vt:lpstr>
      <vt:lpstr>PowerPoint Presentation</vt:lpstr>
      <vt:lpstr>PowerPoint Presentation</vt:lpstr>
      <vt:lpstr> Instructions for making decisions </vt:lpstr>
      <vt:lpstr>Instructions to make comparisons</vt:lpstr>
      <vt:lpstr>Supporting procedures in computer hardware</vt:lpstr>
      <vt:lpstr>MIPS addressing for 32-bit immediates and addresses</vt:lpstr>
      <vt:lpstr>PowerPoint Presentation</vt:lpstr>
      <vt:lpstr>Decoding Machine Language </vt:lpstr>
      <vt:lpstr>Decoding Machine Language </vt:lpstr>
      <vt:lpstr>Encoding and Decoding Machine Language </vt:lpstr>
      <vt:lpstr>Encoding and Decoding Machine Language </vt:lpstr>
      <vt:lpstr>Encoding and Decoding Machine Language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Ramalingam, Gowri</dc:creator>
  <cp:lastModifiedBy>Ramalingam, Gowri</cp:lastModifiedBy>
  <cp:revision>67</cp:revision>
  <dcterms:created xsi:type="dcterms:W3CDTF">2022-01-07T18:45:12Z</dcterms:created>
  <dcterms:modified xsi:type="dcterms:W3CDTF">2023-01-20T16:56:20Z</dcterms:modified>
</cp:coreProperties>
</file>